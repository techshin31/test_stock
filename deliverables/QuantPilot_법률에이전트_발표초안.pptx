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6f4be8b7c34c7c" /><Relationship Type="http://schemas.openxmlformats.org/officeDocument/2006/relationships/extended-properties" Target="/docProps/app.xml" Id="R8197168efe7844f5" /><Relationship Type="http://schemas.openxmlformats.org/officeDocument/2006/relationships/officeDocument" Target="/ppt/presentation.xml" Id="R7e05f515bade4f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76507a416e46b4"/>
  </p:sldMasterIdLst>
  <p:notesMasterIdLst>
    <p:notesMasterId xmlns:r="http://schemas.openxmlformats.org/officeDocument/2006/relationships" r:id="Rd7c3dcbd2c9c4092"/>
  </p:notesMasterIdLst>
  <p:sldIdLst>
    <p:sldId xmlns:r="http://schemas.openxmlformats.org/officeDocument/2006/relationships" id="256" r:id="R57711865bf8e4c1e"/>
    <p:sldId xmlns:r="http://schemas.openxmlformats.org/officeDocument/2006/relationships" id="257" r:id="R6cd4c051d42a4682"/>
    <p:sldId xmlns:r="http://schemas.openxmlformats.org/officeDocument/2006/relationships" id="258" r:id="R5c3fe71bdf09449d"/>
    <p:sldId xmlns:r="http://schemas.openxmlformats.org/officeDocument/2006/relationships" id="259" r:id="Re58f58bdeb2047f3"/>
    <p:sldId xmlns:r="http://schemas.openxmlformats.org/officeDocument/2006/relationships" id="260" r:id="R56608da609704b36"/>
    <p:sldId xmlns:r="http://schemas.openxmlformats.org/officeDocument/2006/relationships" id="261" r:id="R6b925e5d96a74f72"/>
    <p:sldId xmlns:r="http://schemas.openxmlformats.org/officeDocument/2006/relationships" id="262" r:id="Rb2a8a72e6d3348c9"/>
    <p:sldId xmlns:r="http://schemas.openxmlformats.org/officeDocument/2006/relationships" id="263" r:id="R50e558635610415d"/>
    <p:sldId xmlns:r="http://schemas.openxmlformats.org/officeDocument/2006/relationships" id="264" r:id="R03d3b23561cf49b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5d209f32a64794" /><Relationship Type="http://schemas.openxmlformats.org/officeDocument/2006/relationships/slideMaster" Target="/ppt/slideMasters/slideMaster1.xml" Id="Rd476507a416e46b4" /><Relationship Type="http://schemas.openxmlformats.org/officeDocument/2006/relationships/notesMaster" Target="/ppt/notesMasters/notesMaster1.xml" Id="Rd7c3dcbd2c9c4092" /><Relationship Type="http://schemas.openxmlformats.org/officeDocument/2006/relationships/presProps" Target="/ppt/presProps.xml" Id="R7f545bf8f2604a67" /><Relationship Type="http://schemas.openxmlformats.org/officeDocument/2006/relationships/tableStyles" Target="/ppt/tableStyles.xml" Id="Rd12c9c338f9f4335" /><Relationship Type="http://schemas.openxmlformats.org/officeDocument/2006/relationships/slide" Target="/ppt/slides/slide1.xml" Id="R57711865bf8e4c1e" /><Relationship Type="http://schemas.openxmlformats.org/officeDocument/2006/relationships/slide" Target="/ppt/slides/slide2.xml" Id="R6cd4c051d42a4682" /><Relationship Type="http://schemas.openxmlformats.org/officeDocument/2006/relationships/slide" Target="/ppt/slides/slide3.xml" Id="R5c3fe71bdf09449d" /><Relationship Type="http://schemas.openxmlformats.org/officeDocument/2006/relationships/slide" Target="/ppt/slides/slide4.xml" Id="Re58f58bdeb2047f3" /><Relationship Type="http://schemas.openxmlformats.org/officeDocument/2006/relationships/slide" Target="/ppt/slides/slide5.xml" Id="R56608da609704b36" /><Relationship Type="http://schemas.openxmlformats.org/officeDocument/2006/relationships/slide" Target="/ppt/slides/slide6.xml" Id="R6b925e5d96a74f72" /><Relationship Type="http://schemas.openxmlformats.org/officeDocument/2006/relationships/slide" Target="/ppt/slides/slide7.xml" Id="Rb2a8a72e6d3348c9" /><Relationship Type="http://schemas.openxmlformats.org/officeDocument/2006/relationships/slide" Target="/ppt/slides/slide8.xml" Id="R50e558635610415d" /><Relationship Type="http://schemas.openxmlformats.org/officeDocument/2006/relationships/slide" Target="/ppt/slides/slide9.xml" Id="R03d3b23561cf49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446512b2964d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a906053d0c4637" /><Relationship Type="http://schemas.openxmlformats.org/officeDocument/2006/relationships/notesMaster" Target="/ppt/notesMasters/notesMaster1.xml" Id="Rb46e81762d5542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f3d5012d854211" /><Relationship Type="http://schemas.openxmlformats.org/officeDocument/2006/relationships/notesMaster" Target="/ppt/notesMasters/notesMaster1.xml" Id="R0adece21580a4c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df223c068e4b03" /><Relationship Type="http://schemas.openxmlformats.org/officeDocument/2006/relationships/notesMaster" Target="/ppt/notesMasters/notesMaster1.xml" Id="Rf4f18d4ee0d8411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c8acf18c3374d0d" /><Relationship Type="http://schemas.openxmlformats.org/officeDocument/2006/relationships/notesMaster" Target="/ppt/notesMasters/notesMaster1.xml" Id="R6069b6d4e4c2412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38069b6982420b" /><Relationship Type="http://schemas.openxmlformats.org/officeDocument/2006/relationships/notesMaster" Target="/ppt/notesMasters/notesMaster1.xml" Id="R35a26b645b43474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7126152c6284d65" /><Relationship Type="http://schemas.openxmlformats.org/officeDocument/2006/relationships/notesMaster" Target="/ppt/notesMasters/notesMaster1.xml" Id="Ra72cf2370e464c6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4fe8de281ae4d86" /><Relationship Type="http://schemas.openxmlformats.org/officeDocument/2006/relationships/notesMaster" Target="/ppt/notesMasters/notesMaster1.xml" Id="R1309d30a3a014f7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59097b800684bbf" /><Relationship Type="http://schemas.openxmlformats.org/officeDocument/2006/relationships/notesMaster" Target="/ppt/notesMasters/notesMaster1.xml" Id="R18cff8ea071c4a0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888ac315586418e" /><Relationship Type="http://schemas.openxmlformats.org/officeDocument/2006/relationships/notesMaster" Target="/ppt/notesMasters/notesMaster1.xml" Id="R85252cbe11994b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codebase: README.md; core/execution/trader.py; run_live_trader.py</a:t>
            </a:r>
          </a:p>
          <a:p xmlns:a="http://schemas.openxmlformats.org/drawingml/2006/main">
            <a:r>
              <a:t>- Local operating evidence: reports/analysis/automated_trading_system_readiness.json (generated 2026-07-28)</a:t>
            </a:r>
          </a:p>
          <a:p xmlns:a="http://schemas.openxmlformats.org/drawingml/2006/main">
            <a:r>
              <a:t>- This deck proposes product controls; it is not a legal opinion.</a:t>
            </a:r>
          </a:p>
          <a:p xmlns:a="http://schemas.openxmlformats.org/drawingml/2006/main">
            <a:r>
              <a:t>Opening: this is a product/control proposal, not a statement that the system already provides legal advice.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codebase: README.md; core/execution/trader.py; run_live_trader.py</a:t>
            </a:r>
          </a:p>
          <a:p xmlns:a="http://schemas.openxmlformats.org/drawingml/2006/main">
            <a:r>
              <a:t>- Local operating evidence: reports/analysis/automated_trading_system_readiness.json (generated 2026-07-28)</a:t>
            </a:r>
          </a:p>
          <a:p xmlns:a="http://schemas.openxmlformats.org/drawingml/2006/main">
            <a:r>
              <a:t>- This deck proposes product controls; it is not a legal opinion.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codebase: README.md; core/execution/trader.py; run_live_trader.py</a:t>
            </a:r>
          </a:p>
          <a:p xmlns:a="http://schemas.openxmlformats.org/drawingml/2006/main">
            <a:r>
              <a:t>- Local operating evidence: reports/analysis/automated_trading_system_readiness.json (generated 2026-07-28)</a:t>
            </a:r>
          </a:p>
          <a:p xmlns:a="http://schemas.openxmlformats.org/drawingml/2006/main">
            <a:r>
              <a:t>- This deck proposes product controls; it is not a legal opinion.</a:t>
            </a:r>
          </a:p>
          <a:p xmlns:a="http://schemas.openxmlformats.org/drawingml/2006/main">
            <a:r>
              <a:t>Metrics are point-in-time local report values, not performance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codebase: README.md; core/execution/trader.py; run_live_trader.py</a:t>
            </a:r>
          </a:p>
          <a:p xmlns:a="http://schemas.openxmlformats.org/drawingml/2006/main">
            <a:r>
              <a:t>- Local operating evidence: reports/analysis/automated_trading_system_readiness.json (generated 2026-07-28)</a:t>
            </a:r>
          </a:p>
          <a:p xmlns:a="http://schemas.openxmlformats.org/drawingml/2006/main">
            <a:r>
              <a:t>- This deck proposes product controls; it is not a legal opinion.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codebase: README.md; core/execution/trader.py; run_live_trader.py</a:t>
            </a:r>
          </a:p>
          <a:p xmlns:a="http://schemas.openxmlformats.org/drawingml/2006/main">
            <a:r>
              <a:t>- Local operating evidence: reports/analysis/automated_trading_system_readiness.json (generated 2026-07-28)</a:t>
            </a:r>
          </a:p>
          <a:p xmlns:a="http://schemas.openxmlformats.org/drawingml/2006/main">
            <a:r>
              <a:t>- This deck proposes product controls; it is not a legal opinion.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codebase: README.md; core/execution/trader.py; run_live_trader.py</a:t>
            </a:r>
          </a:p>
          <a:p xmlns:a="http://schemas.openxmlformats.org/drawingml/2006/main">
            <a:r>
              <a:t>- Local operating evidence: reports/analysis/automated_trading_system_readiness.json (generated 2026-07-28)</a:t>
            </a:r>
          </a:p>
          <a:p xmlns:a="http://schemas.openxmlformats.org/drawingml/2006/main">
            <a:r>
              <a:t>- This deck proposes product controls; it is not a legal opinion.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codebase: README.md; core/execution/trader.py; run_live_trader.py</a:t>
            </a:r>
          </a:p>
          <a:p xmlns:a="http://schemas.openxmlformats.org/drawingml/2006/main">
            <a:r>
              <a:t>- Local operating evidence: reports/analysis/automated_trading_system_readiness.json (generated 2026-07-28)</a:t>
            </a:r>
          </a:p>
          <a:p xmlns:a="http://schemas.openxmlformats.org/drawingml/2006/main">
            <a:r>
              <a:t>- This deck proposes product controls; it is not a legal opinion.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codebase: README.md; core/execution/trader.py; run_live_trader.py</a:t>
            </a:r>
          </a:p>
          <a:p xmlns:a="http://schemas.openxmlformats.org/drawingml/2006/main">
            <a:r>
              <a:t>- Local operating evidence: reports/analysis/automated_trading_system_readiness.json (generated 2026-07-28)</a:t>
            </a:r>
          </a:p>
          <a:p xmlns:a="http://schemas.openxmlformats.org/drawingml/2006/main">
            <a:r>
              <a:t>- This deck proposes product controls; it is not a legal opinion.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codebase: README.md; core/execution/trader.py; run_live_trader.py</a:t>
            </a:r>
          </a:p>
          <a:p xmlns:a="http://schemas.openxmlformats.org/drawingml/2006/main">
            <a:r>
              <a:t>- Local operating evidence: reports/analysis/automated_trading_system_readiness.json (generated 2026-07-28)</a:t>
            </a:r>
          </a:p>
          <a:p xmlns:a="http://schemas.openxmlformats.org/drawingml/2006/main">
            <a:r>
              <a:t>- This deck proposes product controls; it is not a legal opinion.</a:t>
            </a:r>
          </a:p>
          <a:p xmlns:a="http://schemas.openxmlformats.org/drawingml/2006/main">
            <a:r>
              <a:t>Close with the three decisions on slide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f48d695ca34c5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0f25392dbf4542" /><Relationship Type="http://schemas.openxmlformats.org/officeDocument/2006/relationships/slideLayout" Target="/ppt/slideLayouts/slideLayout1.xml" Id="R9aceca87ef104d2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ceca87ef104d2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fe9c3acfc44967" /><Relationship Type="http://schemas.openxmlformats.org/officeDocument/2006/relationships/notesSlide" Target="/ppt/notesSlides/notesSlide1.xml" Id="R878a92243d0b40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0ae5631a034447" /><Relationship Type="http://schemas.openxmlformats.org/officeDocument/2006/relationships/notesSlide" Target="/ppt/notesSlides/notesSlide2.xml" Id="R5f8501f33f424be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662dc90bf043df" /><Relationship Type="http://schemas.openxmlformats.org/officeDocument/2006/relationships/notesSlide" Target="/ppt/notesSlides/notesSlide3.xml" Id="R4a9ca7a95c0b4c3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340431e7d740cf" /><Relationship Type="http://schemas.openxmlformats.org/officeDocument/2006/relationships/notesSlide" Target="/ppt/notesSlides/notesSlide4.xml" Id="R9c5d7532c66e409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2c8b87b1aa4f08" /><Relationship Type="http://schemas.openxmlformats.org/officeDocument/2006/relationships/notesSlide" Target="/ppt/notesSlides/notesSlide5.xml" Id="R23a1e9b21aaf40c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eb89bf99d1451a" /><Relationship Type="http://schemas.openxmlformats.org/officeDocument/2006/relationships/notesSlide" Target="/ppt/notesSlides/notesSlide6.xml" Id="Re4b4a413db33489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b8505d34a3488e" /><Relationship Type="http://schemas.openxmlformats.org/officeDocument/2006/relationships/notesSlide" Target="/ppt/notesSlides/notesSlide7.xml" Id="R5ed8b3c9e2af462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8b95a69e8b48c6" /><Relationship Type="http://schemas.openxmlformats.org/officeDocument/2006/relationships/notesSlide" Target="/ppt/notesSlides/notesSlide8.xml" Id="Refaa9739ea2a49c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ff6578462f45e8" /><Relationship Type="http://schemas.openxmlformats.org/officeDocument/2006/relationships/notesSlide" Target="/ppt/notesSlides/notesSlide9.xml" Id="R384cbeb0119e457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rand">
            <a:extLst xmlns:a="http://schemas.openxmlformats.org/drawingml/2006/main">
              <a:ext uri="{FF2B5EF4-FFF2-40B4-BE49-F238E27FC236}">
                <a16:creationId xmlns:a16="http://schemas.microsoft.com/office/drawing/2014/main" id="{A4DE3A7D-29F3-4032-A94B-ABD05D4E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97BE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97BE6"/>
                </a:solidFill>
                <a:latin typeface="Malgun Gothic"/>
                <a:ea typeface="Malgun Gothic"/>
                <a:cs typeface="Malgun Gothic"/>
              </a:rPr>
              <a:t>QUANTPILOT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3CBF241-518B-41E5-916C-17196BD3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8382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49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법률·규제 리스크</a:t>
            </a:r>
          </a:p>
          <a:p xmlns:a="http://schemas.openxmlformats.org/drawingml/2006/main">
            <a:pPr algn="l">
              <a:defRPr sz="49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49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검토 에이전트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B9D0C6E5-15B5-4DF3-A62E-AC57292D5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48100"/>
            <a:ext cx="733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자동매매 운영 통제 위에 법률 검토의 근거·한계·승인을 연결하는 제안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D336BB-A8F1-4837-A836-4DDF2F661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958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meta">
            <a:extLst xmlns:a="http://schemas.openxmlformats.org/drawingml/2006/main">
              <a:ext uri="{FF2B5EF4-FFF2-40B4-BE49-F238E27FC236}">
                <a16:creationId xmlns:a16="http://schemas.microsoft.com/office/drawing/2014/main" id="{8FC9843E-41F2-4B4E-9606-4AB1B6CF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코드 기반 발표 초안  |  운영 기준선: PAPER</a:t>
            </a:r>
          </a:p>
        </p:txBody>
      </p:sp>
      <p:sp>
        <p:nvSpPr>
          <p:cNvPr id="6" name="cover-panel">
            <a:extLst xmlns:a="http://schemas.openxmlformats.org/drawingml/2006/main">
              <a:ext uri="{FF2B5EF4-FFF2-40B4-BE49-F238E27FC236}">
                <a16:creationId xmlns:a16="http://schemas.microsoft.com/office/drawing/2014/main" id="{32C7E2E1-CD27-4920-83D1-BE2D376F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657350"/>
            <a:ext cx="24003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ver-panel-title">
            <a:extLst xmlns:a="http://schemas.openxmlformats.org/drawingml/2006/main">
              <a:ext uri="{FF2B5EF4-FFF2-40B4-BE49-F238E27FC236}">
                <a16:creationId xmlns:a16="http://schemas.microsoft.com/office/drawing/2014/main" id="{1E101A99-EF02-4D49-B7EA-15733ABD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305050"/>
            <a:ext cx="1619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97BE6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297BE6"/>
                </a:solidFill>
                <a:latin typeface="Malgun Gothic"/>
                <a:ea typeface="Malgun Gothic"/>
                <a:cs typeface="Malgun Gothic"/>
              </a:rPr>
              <a:t>법률</a:t>
            </a:r>
          </a:p>
          <a:p xmlns:a="http://schemas.openxmlformats.org/drawingml/2006/main">
            <a:pPr algn="ctr">
              <a:defRPr sz="2400" b="1">
                <a:solidFill>
                  <a:srgbClr val="297BE6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297BE6"/>
                </a:solidFill>
                <a:latin typeface="Malgun Gothic"/>
                <a:ea typeface="Malgun Gothic"/>
                <a:cs typeface="Malgun Gothic"/>
              </a:rPr>
              <a:t>에이전트</a:t>
            </a:r>
          </a:p>
        </p:txBody>
      </p:sp>
      <p:sp>
        <p:nvSpPr>
          <p:cNvPr id="8" name="cover-panel-sub">
            <a:extLst xmlns:a="http://schemas.openxmlformats.org/drawingml/2006/main">
              <a:ext uri="{FF2B5EF4-FFF2-40B4-BE49-F238E27FC236}">
                <a16:creationId xmlns:a16="http://schemas.microsoft.com/office/drawing/2014/main" id="{54E0FEF9-6D25-4EC3-ABA4-502877A00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29000"/>
            <a:ext cx="1752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판단이 아니라</a:t>
            </a:r>
          </a:p>
          <a:p xmlns:a="http://schemas.openxmlformats.org/drawingml/2006/main">
            <a:pPr algn="ctr">
              <a:defRPr sz="127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검토를 구조화</a:t>
            </a:r>
          </a:p>
        </p:txBody>
      </p:sp>
    </p:spTree>
    <p:extLst>
      <p:ext uri="{BB962C8B-B14F-4D97-AF65-F5344CB8AC3E}">
        <p14:creationId xmlns:p14="http://schemas.microsoft.com/office/powerpoint/2010/main" val="157377982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-2">
            <a:extLst xmlns:a="http://schemas.openxmlformats.org/drawingml/2006/main">
              <a:ext uri="{FF2B5EF4-FFF2-40B4-BE49-F238E27FC236}">
                <a16:creationId xmlns:a16="http://schemas.microsoft.com/office/drawing/2014/main" id="{2AECBC0A-3B02-4991-A2B2-AC7F4E6F0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97BE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97BE6"/>
                </a:solidFill>
                <a:latin typeface="Malgun Gothic"/>
                <a:ea typeface="Malgun Gothic"/>
                <a:cs typeface="Malgun Gothic"/>
              </a:rPr>
              <a:t>QUANTPILOT · LEGAL AGENT DRAFT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0AB5274C-477E-4067-A80D-C672B2BC0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안전한 실행 통제, 법률 검토는 공백</a:t>
            </a:r>
          </a:p>
        </p:txBody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5074C17E-1D06-472F-935C-480535C7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6A8EC7-F2B0-475C-890C-DB13356EF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eft-head">
            <a:extLst xmlns:a="http://schemas.openxmlformats.org/drawingml/2006/main">
              <a:ext uri="{FF2B5EF4-FFF2-40B4-BE49-F238E27FC236}">
                <a16:creationId xmlns:a16="http://schemas.microsoft.com/office/drawing/2014/main" id="{C1AC53E0-2859-4B2D-A8F7-5B945337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코드에서 이미 확인되는 운영 통제</a:t>
            </a:r>
          </a:p>
        </p:txBody>
      </p:sp>
      <p:sp>
        <p:nvSpPr>
          <p:cNvPr id="6" name="right-head">
            <a:extLst xmlns:a="http://schemas.openxmlformats.org/drawingml/2006/main">
              <a:ext uri="{FF2B5EF4-FFF2-40B4-BE49-F238E27FC236}">
                <a16:creationId xmlns:a16="http://schemas.microsoft.com/office/drawing/2014/main" id="{2936031F-FE06-4D66-BD64-BC23F8B7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097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제안하는 법률 에이전트의 보완 역할</a:t>
            </a:r>
          </a:p>
        </p:txBody>
      </p:sp>
      <p:sp>
        <p:nvSpPr>
          <p:cNvPr id="7" name="current-zone">
            <a:extLst xmlns:a="http://schemas.openxmlformats.org/drawingml/2006/main">
              <a:ext uri="{FF2B5EF4-FFF2-40B4-BE49-F238E27FC236}">
                <a16:creationId xmlns:a16="http://schemas.microsoft.com/office/drawing/2014/main" id="{9CB4E305-89AC-4F9E-AA53-943508FD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24100"/>
            <a:ext cx="4762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oposed-zone">
            <a:extLst xmlns:a="http://schemas.openxmlformats.org/drawingml/2006/main">
              <a:ext uri="{FF2B5EF4-FFF2-40B4-BE49-F238E27FC236}">
                <a16:creationId xmlns:a16="http://schemas.microsoft.com/office/drawing/2014/main" id="{05FB4BE4-9A37-4494-A7FE-25877C696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24100"/>
            <a:ext cx="4762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l-dot-0">
            <a:extLst xmlns:a="http://schemas.openxmlformats.org/drawingml/2006/main">
              <a:ext uri="{FF2B5EF4-FFF2-40B4-BE49-F238E27FC236}">
                <a16:creationId xmlns:a16="http://schemas.microsoft.com/office/drawing/2014/main" id="{8E25FFD7-6A94-4495-8768-953D780C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98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803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5803D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10" name="l-0">
            <a:extLst xmlns:a="http://schemas.openxmlformats.org/drawingml/2006/main">
              <a:ext uri="{FF2B5EF4-FFF2-40B4-BE49-F238E27FC236}">
                <a16:creationId xmlns:a16="http://schemas.microsoft.com/office/drawing/2014/main" id="{84029727-710D-4122-B68B-66D53265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388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DRY_RUN · PAPER · REAL 실행 모드 분리</a:t>
            </a:r>
          </a:p>
        </p:txBody>
      </p:sp>
      <p:sp>
        <p:nvSpPr>
          <p:cNvPr id="11" name="l-dot-1">
            <a:extLst xmlns:a="http://schemas.openxmlformats.org/drawingml/2006/main">
              <a:ext uri="{FF2B5EF4-FFF2-40B4-BE49-F238E27FC236}">
                <a16:creationId xmlns:a16="http://schemas.microsoft.com/office/drawing/2014/main" id="{2FC5E670-48DC-4DB7-A709-CDE6BBEF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194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803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5803D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12" name="l-1">
            <a:extLst xmlns:a="http://schemas.openxmlformats.org/drawingml/2006/main">
              <a:ext uri="{FF2B5EF4-FFF2-40B4-BE49-F238E27FC236}">
                <a16:creationId xmlns:a16="http://schemas.microsoft.com/office/drawing/2014/main" id="{2D93FA7E-92FB-43A5-8A34-3A032581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00400"/>
            <a:ext cx="388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REAL 주문은 별도 게이트와 수동 확인</a:t>
            </a:r>
          </a:p>
        </p:txBody>
      </p:sp>
      <p:sp>
        <p:nvSpPr>
          <p:cNvPr id="13" name="l-dot-2">
            <a:extLst xmlns:a="http://schemas.openxmlformats.org/drawingml/2006/main">
              <a:ext uri="{FF2B5EF4-FFF2-40B4-BE49-F238E27FC236}">
                <a16:creationId xmlns:a16="http://schemas.microsoft.com/office/drawing/2014/main" id="{ABAB5385-C416-49F6-8800-05AAFB1A9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290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803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5803D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14" name="l-2">
            <a:extLst xmlns:a="http://schemas.openxmlformats.org/drawingml/2006/main">
              <a:ext uri="{FF2B5EF4-FFF2-40B4-BE49-F238E27FC236}">
                <a16:creationId xmlns:a16="http://schemas.microsoft.com/office/drawing/2014/main" id="{D9E34C0C-4D5C-4FD9-A7FF-AFDCBF57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10000"/>
            <a:ext cx="388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주문·체결·일일 리포트의 감사 추적</a:t>
            </a:r>
          </a:p>
        </p:txBody>
      </p:sp>
      <p:sp>
        <p:nvSpPr>
          <p:cNvPr id="15" name="l-dot-3">
            <a:extLst xmlns:a="http://schemas.openxmlformats.org/drawingml/2006/main">
              <a:ext uri="{FF2B5EF4-FFF2-40B4-BE49-F238E27FC236}">
                <a16:creationId xmlns:a16="http://schemas.microsoft.com/office/drawing/2014/main" id="{F9C5EDDB-4F59-4B4B-A2D9-86B180D0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386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803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5803D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16" name="l-3">
            <a:extLst xmlns:a="http://schemas.openxmlformats.org/drawingml/2006/main">
              <a:ext uri="{FF2B5EF4-FFF2-40B4-BE49-F238E27FC236}">
                <a16:creationId xmlns:a16="http://schemas.microsoft.com/office/drawing/2014/main" id="{9502B951-2D8C-48EC-BB87-93AB5631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19600"/>
            <a:ext cx="388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신규 매수 차단·손절/청산 허용</a:t>
            </a:r>
          </a:p>
        </p:txBody>
      </p:sp>
      <p:sp>
        <p:nvSpPr>
          <p:cNvPr id="17" name="r-dot-0">
            <a:extLst xmlns:a="http://schemas.openxmlformats.org/drawingml/2006/main">
              <a:ext uri="{FF2B5EF4-FFF2-40B4-BE49-F238E27FC236}">
                <a16:creationId xmlns:a16="http://schemas.microsoft.com/office/drawing/2014/main" id="{0715AB73-9ECF-48B5-90EB-79F07DB4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098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97BE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97BE6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18" name="r-0">
            <a:extLst xmlns:a="http://schemas.openxmlformats.org/drawingml/2006/main">
              <a:ext uri="{FF2B5EF4-FFF2-40B4-BE49-F238E27FC236}">
                <a16:creationId xmlns:a16="http://schemas.microsoft.com/office/drawing/2014/main" id="{12A14311-BAAC-43E7-9F7A-4206D984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9080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데이터·콘텐츠 사용권 위험을 사전 표시</a:t>
            </a:r>
          </a:p>
        </p:txBody>
      </p:sp>
      <p:sp>
        <p:nvSpPr>
          <p:cNvPr id="19" name="r-dot-1">
            <a:extLst xmlns:a="http://schemas.openxmlformats.org/drawingml/2006/main">
              <a:ext uri="{FF2B5EF4-FFF2-40B4-BE49-F238E27FC236}">
                <a16:creationId xmlns:a16="http://schemas.microsoft.com/office/drawing/2014/main" id="{F59A7F2C-AB3B-4ADE-A610-8F40B201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194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97BE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97BE6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20" name="r-1">
            <a:extLst xmlns:a="http://schemas.openxmlformats.org/drawingml/2006/main">
              <a:ext uri="{FF2B5EF4-FFF2-40B4-BE49-F238E27FC236}">
                <a16:creationId xmlns:a16="http://schemas.microsoft.com/office/drawing/2014/main" id="{C49733AA-1E30-45CE-BE34-C43DE579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0040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공시·뉴스의 규제 쟁점을 근거와 함께 요약</a:t>
            </a:r>
          </a:p>
        </p:txBody>
      </p:sp>
      <p:sp>
        <p:nvSpPr>
          <p:cNvPr id="21" name="r-dot-2">
            <a:extLst xmlns:a="http://schemas.openxmlformats.org/drawingml/2006/main">
              <a:ext uri="{FF2B5EF4-FFF2-40B4-BE49-F238E27FC236}">
                <a16:creationId xmlns:a16="http://schemas.microsoft.com/office/drawing/2014/main" id="{D0AE3A9B-CBFE-4874-BA58-94B09206F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290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97BE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97BE6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22" name="r-2">
            <a:extLst xmlns:a="http://schemas.openxmlformats.org/drawingml/2006/main">
              <a:ext uri="{FF2B5EF4-FFF2-40B4-BE49-F238E27FC236}">
                <a16:creationId xmlns:a16="http://schemas.microsoft.com/office/drawing/2014/main" id="{944F1662-F6C9-4B24-9EF6-81AD3D7E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81000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사용자 문구가 투자자문처럼 보이는지 점검</a:t>
            </a:r>
          </a:p>
        </p:txBody>
      </p:sp>
      <p:sp>
        <p:nvSpPr>
          <p:cNvPr id="23" name="r-dot-3">
            <a:extLst xmlns:a="http://schemas.openxmlformats.org/drawingml/2006/main">
              <a:ext uri="{FF2B5EF4-FFF2-40B4-BE49-F238E27FC236}">
                <a16:creationId xmlns:a16="http://schemas.microsoft.com/office/drawing/2014/main" id="{731FBD80-9087-4F8F-81BB-3C1DC1C63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386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97BE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97BE6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24" name="r-3">
            <a:extLst xmlns:a="http://schemas.openxmlformats.org/drawingml/2006/main">
              <a:ext uri="{FF2B5EF4-FFF2-40B4-BE49-F238E27FC236}">
                <a16:creationId xmlns:a16="http://schemas.microsoft.com/office/drawing/2014/main" id="{A91A90B2-99BC-4535-95F0-E9CF7122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1960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법률 확정 판단은 담당자 승인으로 이관</a:t>
            </a:r>
          </a:p>
        </p:txBody>
      </p:sp>
      <p:sp>
        <p:nvSpPr>
          <p:cNvPr id="25" name="motivation-takeaway">
            <a:extLst xmlns:a="http://schemas.openxmlformats.org/drawingml/2006/main">
              <a:ext uri="{FF2B5EF4-FFF2-40B4-BE49-F238E27FC236}">
                <a16:creationId xmlns:a16="http://schemas.microsoft.com/office/drawing/2014/main" id="{AC101C1F-2A5D-432D-8FEE-3316A1CF7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531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핵심: “거래 실행 제어”와 “법률·규제 검토”를 분리한 뒤, 검토 결과만 의사결정 게이트에 연결합니다.</a:t>
            </a:r>
          </a:p>
        </p:txBody>
      </p:sp>
    </p:spTree>
    <p:extLst>
      <p:ext uri="{BB962C8B-B14F-4D97-AF65-F5344CB8AC3E}">
        <p14:creationId xmlns:p14="http://schemas.microsoft.com/office/powerpoint/2010/main" val="158024836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kicker-3">
            <a:extLst xmlns:a="http://schemas.openxmlformats.org/drawingml/2006/main">
              <a:ext uri="{FF2B5EF4-FFF2-40B4-BE49-F238E27FC236}">
                <a16:creationId xmlns:a16="http://schemas.microsoft.com/office/drawing/2014/main" id="{8029B36A-00B3-415C-AEA1-1FB1CA5F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97BE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97BE6"/>
                </a:solidFill>
                <a:latin typeface="Malgun Gothic"/>
                <a:ea typeface="Malgun Gothic"/>
                <a:cs typeface="Malgun Gothic"/>
              </a:rPr>
              <a:t>QUANTPILOT · LEGAL AGENT DRAFT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713A3929-B953-48BC-8FFA-92432283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비교의 출발점: 현재 PAPER 운영 기준선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E4E6CFA3-FAF1-427E-B309-E062F851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5FCF4D-11EE-4499-90DF-FD513DBB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aseline-sub">
            <a:extLst xmlns:a="http://schemas.openxmlformats.org/drawingml/2006/main">
              <a:ext uri="{FF2B5EF4-FFF2-40B4-BE49-F238E27FC236}">
                <a16:creationId xmlns:a16="http://schemas.microsoft.com/office/drawing/2014/main" id="{C92B5EA5-F0FB-4916-8680-23DBC7FD1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법률 지표는 아직 측정되지 않으므로, 먼저 코드가 생성하는 운영 지표를 기준선으로 둡니다.</a:t>
            </a:r>
          </a:p>
        </p:txBody>
      </p:sp>
      <p:sp>
        <p:nvSpPr>
          <p:cNvPr id="6" name="safety">
            <a:extLst xmlns:a="http://schemas.openxmlformats.org/drawingml/2006/main">
              <a:ext uri="{FF2B5EF4-FFF2-40B4-BE49-F238E27FC236}">
                <a16:creationId xmlns:a16="http://schemas.microsoft.com/office/drawing/2014/main" id="{A079B2AC-041E-483B-A4E6-B96B48E3F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52650"/>
            <a:ext cx="23812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51BED3-078A-4C27-8CF6-F77F7734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52650"/>
            <a:ext cx="762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afety-value">
            <a:extLst xmlns:a="http://schemas.openxmlformats.org/drawingml/2006/main">
              <a:ext uri="{FF2B5EF4-FFF2-40B4-BE49-F238E27FC236}">
                <a16:creationId xmlns:a16="http://schemas.microsoft.com/office/drawing/2014/main" id="{AAF1FE27-59C6-4AD3-8AC1-B9599001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9350"/>
            <a:ext cx="1847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12 / 13</a:t>
            </a:r>
          </a:p>
        </p:txBody>
      </p:sp>
      <p:sp>
        <p:nvSpPr>
          <p:cNvPr id="9" name="safety-label">
            <a:extLst xmlns:a="http://schemas.openxmlformats.org/drawingml/2006/main">
              <a:ext uri="{FF2B5EF4-FFF2-40B4-BE49-F238E27FC236}">
                <a16:creationId xmlns:a16="http://schemas.microsoft.com/office/drawing/2014/main" id="{96835F34-EC05-4705-A0EB-174FBA58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안전검사 통과</a:t>
            </a:r>
          </a:p>
        </p:txBody>
      </p:sp>
      <p:sp>
        <p:nvSpPr>
          <p:cNvPr id="10" name="safety-sub">
            <a:extLst xmlns:a="http://schemas.openxmlformats.org/drawingml/2006/main">
              <a:ext uri="{FF2B5EF4-FFF2-40B4-BE49-F238E27FC236}">
                <a16:creationId xmlns:a16="http://schemas.microsoft.com/office/drawing/2014/main" id="{0AA2F1E0-0A94-48CB-93BF-C8A8DB05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1건: 일일 손실 한도에 따른 진입 차단</a:t>
            </a:r>
          </a:p>
        </p:txBody>
      </p:sp>
      <p:sp>
        <p:nvSpPr>
          <p:cNvPr id="11" name="evidence">
            <a:extLst xmlns:a="http://schemas.openxmlformats.org/drawingml/2006/main">
              <a:ext uri="{FF2B5EF4-FFF2-40B4-BE49-F238E27FC236}">
                <a16:creationId xmlns:a16="http://schemas.microsoft.com/office/drawing/2014/main" id="{5A688612-23D1-491D-AD23-A8BC05CB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52650"/>
            <a:ext cx="23812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4CEFA5-19DA-41A8-A0DB-70070889D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52650"/>
            <a:ext cx="762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evidence-value">
            <a:extLst xmlns:a="http://schemas.openxmlformats.org/drawingml/2006/main">
              <a:ext uri="{FF2B5EF4-FFF2-40B4-BE49-F238E27FC236}">
                <a16:creationId xmlns:a16="http://schemas.microsoft.com/office/drawing/2014/main" id="{52CFEAD0-9589-4490-A6B4-6727B0C6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19350"/>
            <a:ext cx="1847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6 / 14</a:t>
            </a:r>
          </a:p>
        </p:txBody>
      </p:sp>
      <p:sp>
        <p:nvSpPr>
          <p:cNvPr id="14" name="evidence-label">
            <a:extLst xmlns:a="http://schemas.openxmlformats.org/drawingml/2006/main">
              <a:ext uri="{FF2B5EF4-FFF2-40B4-BE49-F238E27FC236}">
                <a16:creationId xmlns:a16="http://schemas.microsoft.com/office/drawing/2014/main" id="{B2547BCA-8226-4012-AC0A-8C84A6F7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12420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완료 증거 통과</a:t>
            </a:r>
          </a:p>
        </p:txBody>
      </p:sp>
      <p:sp>
        <p:nvSpPr>
          <p:cNvPr id="15" name="evidence-sub">
            <a:extLst xmlns:a="http://schemas.openxmlformats.org/drawingml/2006/main">
              <a:ext uri="{FF2B5EF4-FFF2-40B4-BE49-F238E27FC236}">
                <a16:creationId xmlns:a16="http://schemas.microsoft.com/office/drawing/2014/main" id="{C8C9548F-2736-4A9F-BE76-2FF6BDDD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54330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운영 창·리포트 커버리지 보강 필요</a:t>
            </a:r>
          </a:p>
        </p:txBody>
      </p:sp>
      <p:sp>
        <p:nvSpPr>
          <p:cNvPr id="16" name="sessions">
            <a:extLst xmlns:a="http://schemas.openxmlformats.org/drawingml/2006/main">
              <a:ext uri="{FF2B5EF4-FFF2-40B4-BE49-F238E27FC236}">
                <a16:creationId xmlns:a16="http://schemas.microsoft.com/office/drawing/2014/main" id="{6C080F88-D56B-4AB6-8F36-A9C5D233F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152650"/>
            <a:ext cx="23812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FA5E60-3523-44CB-9AA3-4446C93E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152650"/>
            <a:ext cx="762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7B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essions-value">
            <a:extLst xmlns:a="http://schemas.openxmlformats.org/drawingml/2006/main">
              <a:ext uri="{FF2B5EF4-FFF2-40B4-BE49-F238E27FC236}">
                <a16:creationId xmlns:a16="http://schemas.microsoft.com/office/drawing/2014/main" id="{7936C818-B238-4E1A-A33D-02C68341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19350"/>
            <a:ext cx="1847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6 / 60</a:t>
            </a:r>
          </a:p>
        </p:txBody>
      </p:sp>
      <p:sp>
        <p:nvSpPr>
          <p:cNvPr id="19" name="sessions-label">
            <a:extLst xmlns:a="http://schemas.openxmlformats.org/drawingml/2006/main">
              <a:ext uri="{FF2B5EF4-FFF2-40B4-BE49-F238E27FC236}">
                <a16:creationId xmlns:a16="http://schemas.microsoft.com/office/drawing/2014/main" id="{300A11AE-8579-4501-8DAF-63AF7E38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2420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PAPER 세션</a:t>
            </a:r>
          </a:p>
        </p:txBody>
      </p:sp>
      <p:sp>
        <p:nvSpPr>
          <p:cNvPr id="20" name="sessions-sub">
            <a:extLst xmlns:a="http://schemas.openxmlformats.org/drawingml/2006/main">
              <a:ext uri="{FF2B5EF4-FFF2-40B4-BE49-F238E27FC236}">
                <a16:creationId xmlns:a16="http://schemas.microsoft.com/office/drawing/2014/main" id="{96E3D382-6416-4502-8052-0383CD7D5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4330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REAL 전환 전 검증을 위한 누적 운영</a:t>
            </a:r>
          </a:p>
        </p:txBody>
      </p:sp>
      <p:sp>
        <p:nvSpPr>
          <p:cNvPr id="21" name="reports">
            <a:extLst xmlns:a="http://schemas.openxmlformats.org/drawingml/2006/main">
              <a:ext uri="{FF2B5EF4-FFF2-40B4-BE49-F238E27FC236}">
                <a16:creationId xmlns:a16="http://schemas.microsoft.com/office/drawing/2014/main" id="{1FFD9BC5-539B-4C2C-8B41-A1F49C25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52650"/>
            <a:ext cx="23812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3783B1-2334-4318-A369-FF6AA2BA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52650"/>
            <a:ext cx="762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reports-value">
            <a:extLst xmlns:a="http://schemas.openxmlformats.org/drawingml/2006/main">
              <a:ext uri="{FF2B5EF4-FFF2-40B4-BE49-F238E27FC236}">
                <a16:creationId xmlns:a16="http://schemas.microsoft.com/office/drawing/2014/main" id="{95ADB4B1-93A2-4A99-8421-BC0971E3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19350"/>
            <a:ext cx="1847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3 / 60</a:t>
            </a:r>
          </a:p>
        </p:txBody>
      </p:sp>
      <p:sp>
        <p:nvSpPr>
          <p:cNvPr id="24" name="reports-label">
            <a:extLst xmlns:a="http://schemas.openxmlformats.org/drawingml/2006/main">
              <a:ext uri="{FF2B5EF4-FFF2-40B4-BE49-F238E27FC236}">
                <a16:creationId xmlns:a16="http://schemas.microsoft.com/office/drawing/2014/main" id="{DDA44476-917B-44E2-8149-FE2DBC886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12420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FINAL 리포트</a:t>
            </a:r>
          </a:p>
        </p:txBody>
      </p:sp>
      <p:sp>
        <p:nvSpPr>
          <p:cNvPr id="25" name="reports-sub">
            <a:extLst xmlns:a="http://schemas.openxmlformats.org/drawingml/2006/main">
              <a:ext uri="{FF2B5EF4-FFF2-40B4-BE49-F238E27FC236}">
                <a16:creationId xmlns:a16="http://schemas.microsoft.com/office/drawing/2014/main" id="{E67254E8-53A0-46DA-8E9B-E3005033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54330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일별 FINAL/READY 산출물 누적 필요</a:t>
            </a:r>
          </a:p>
        </p:txBody>
      </p:sp>
      <p:sp>
        <p:nvSpPr>
          <p:cNvPr id="26" name="baseline-label">
            <a:extLst xmlns:a="http://schemas.openxmlformats.org/drawingml/2006/main">
              <a:ext uri="{FF2B5EF4-FFF2-40B4-BE49-F238E27FC236}">
                <a16:creationId xmlns:a16="http://schemas.microsoft.com/office/drawing/2014/main" id="{16C90747-9FBF-4AFB-9379-517363CFD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해석</a:t>
            </a:r>
          </a:p>
        </p:txBody>
      </p:sp>
      <p:sp>
        <p:nvSpPr>
          <p:cNvPr id="27" name="baseline-takeaway">
            <a:extLst xmlns:a="http://schemas.openxmlformats.org/drawingml/2006/main">
              <a:ext uri="{FF2B5EF4-FFF2-40B4-BE49-F238E27FC236}">
                <a16:creationId xmlns:a16="http://schemas.microsoft.com/office/drawing/2014/main" id="{18F768F3-D1A6-48C3-A49E-BED3C9BE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00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현재 시스템은 실주문 확대보다 검증의 완결성을 우선합니다. 법률 에이전트도 동일하게 “미확인 → 제한” 원칙으로 설계합니다.</a:t>
            </a:r>
          </a:p>
        </p:txBody>
      </p:sp>
    </p:spTree>
    <p:extLst>
      <p:ext uri="{BB962C8B-B14F-4D97-AF65-F5344CB8AC3E}">
        <p14:creationId xmlns:p14="http://schemas.microsoft.com/office/powerpoint/2010/main" val="187838408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kicker-4">
            <a:extLst xmlns:a="http://schemas.openxmlformats.org/drawingml/2006/main">
              <a:ext uri="{FF2B5EF4-FFF2-40B4-BE49-F238E27FC236}">
                <a16:creationId xmlns:a16="http://schemas.microsoft.com/office/drawing/2014/main" id="{FCBD2679-76F9-41BF-B33C-5884CBB2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97BE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97BE6"/>
                </a:solidFill>
                <a:latin typeface="Malgun Gothic"/>
                <a:ea typeface="Malgun Gothic"/>
                <a:cs typeface="Malgun Gothic"/>
              </a:rPr>
              <a:t>QUANTPILOT · LEGAL AGENT DRAFT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750D5160-0F7C-45BA-8970-B2135B79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388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법률 에이전트는 “판단 자동화”가 아니라 “검토 가능성”을 높입니다.</a:t>
            </a:r>
          </a:p>
        </p:txBody>
      </p: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45916112-E81D-4E19-B406-531226D3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BF891C-F04F-45F0-A2F3-85B96DB8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h-0">
            <a:extLst xmlns:a="http://schemas.openxmlformats.org/drawingml/2006/main">
              <a:ext uri="{FF2B5EF4-FFF2-40B4-BE49-F238E27FC236}">
                <a16:creationId xmlns:a16="http://schemas.microsoft.com/office/drawing/2014/main" id="{B27D159C-5D0A-429A-8CCB-7549DA132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2495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ht-0">
            <a:extLst xmlns:a="http://schemas.openxmlformats.org/drawingml/2006/main">
              <a:ext uri="{FF2B5EF4-FFF2-40B4-BE49-F238E27FC236}">
                <a16:creationId xmlns:a16="http://schemas.microsoft.com/office/drawing/2014/main" id="{00E6BE02-5B45-47B5-898B-062E5313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4785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비교 항목</a:t>
            </a:r>
          </a:p>
        </p:txBody>
      </p:sp>
      <p:sp>
        <p:nvSpPr>
          <p:cNvPr id="7" name="mh-1">
            <a:extLst xmlns:a="http://schemas.openxmlformats.org/drawingml/2006/main">
              <a:ext uri="{FF2B5EF4-FFF2-40B4-BE49-F238E27FC236}">
                <a16:creationId xmlns:a16="http://schemas.microsoft.com/office/drawing/2014/main" id="{191507BD-7F8D-41E8-8240-D2CED2F4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33550"/>
            <a:ext cx="361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ht-1">
            <a:extLst xmlns:a="http://schemas.openxmlformats.org/drawingml/2006/main">
              <a:ext uri="{FF2B5EF4-FFF2-40B4-BE49-F238E27FC236}">
                <a16:creationId xmlns:a16="http://schemas.microsoft.com/office/drawing/2014/main" id="{520823AE-AEE4-4E8B-AA1E-CD4844AEB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847850"/>
            <a:ext cx="3390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현재 운영</a:t>
            </a:r>
          </a:p>
        </p:txBody>
      </p:sp>
      <p:sp>
        <p:nvSpPr>
          <p:cNvPr id="9" name="mh-2">
            <a:extLst xmlns:a="http://schemas.openxmlformats.org/drawingml/2006/main">
              <a:ext uri="{FF2B5EF4-FFF2-40B4-BE49-F238E27FC236}">
                <a16:creationId xmlns:a16="http://schemas.microsoft.com/office/drawing/2014/main" id="{D32F3B17-CAE3-4704-BF57-62B227CC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33550"/>
            <a:ext cx="276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ht-2">
            <a:extLst xmlns:a="http://schemas.openxmlformats.org/drawingml/2006/main">
              <a:ext uri="{FF2B5EF4-FFF2-40B4-BE49-F238E27FC236}">
                <a16:creationId xmlns:a16="http://schemas.microsoft.com/office/drawing/2014/main" id="{4E6EE03C-CB36-4985-9A9B-9ED8276AA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847850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법률 에이전트 도입 후</a:t>
            </a:r>
          </a:p>
        </p:txBody>
      </p:sp>
      <p:sp>
        <p:nvSpPr>
          <p:cNvPr id="11" name="mh-3">
            <a:extLst xmlns:a="http://schemas.openxmlformats.org/drawingml/2006/main">
              <a:ext uri="{FF2B5EF4-FFF2-40B4-BE49-F238E27FC236}">
                <a16:creationId xmlns:a16="http://schemas.microsoft.com/office/drawing/2014/main" id="{930880E3-4F9C-41EB-BFF8-393BCAF83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733550"/>
            <a:ext cx="2400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ht-3">
            <a:extLst xmlns:a="http://schemas.openxmlformats.org/drawingml/2006/main">
              <a:ext uri="{FF2B5EF4-FFF2-40B4-BE49-F238E27FC236}">
                <a16:creationId xmlns:a16="http://schemas.microsoft.com/office/drawing/2014/main" id="{3613DD72-0D32-42FE-8531-31C1142B8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84785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의사결정</a:t>
            </a:r>
          </a:p>
        </p:txBody>
      </p:sp>
      <p:sp>
        <p:nvSpPr>
          <p:cNvPr id="13" name="cell-0-0">
            <a:extLst xmlns:a="http://schemas.openxmlformats.org/drawingml/2006/main">
              <a:ext uri="{FF2B5EF4-FFF2-40B4-BE49-F238E27FC236}">
                <a16:creationId xmlns:a16="http://schemas.microsoft.com/office/drawing/2014/main" id="{7D73B593-F791-463D-B266-47B392DF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52650"/>
            <a:ext cx="24955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B"/>
            </a:solidFill>
            <a:prstDash val="solid"/>
          </a:ln>
        </p:spPr>
      </p:sp>
      <p:sp>
        <p:nvSpPr>
          <p:cNvPr id="14" name="cell-0-1">
            <a:extLst xmlns:a="http://schemas.openxmlformats.org/drawingml/2006/main">
              <a:ext uri="{FF2B5EF4-FFF2-40B4-BE49-F238E27FC236}">
                <a16:creationId xmlns:a16="http://schemas.microsoft.com/office/drawing/2014/main" id="{BF870201-F997-466C-A896-3CC77ADD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52650"/>
            <a:ext cx="3619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B"/>
            </a:solidFill>
            <a:prstDash val="solid"/>
          </a:ln>
        </p:spPr>
      </p:sp>
      <p:sp>
        <p:nvSpPr>
          <p:cNvPr id="15" name="cell-0-2">
            <a:extLst xmlns:a="http://schemas.openxmlformats.org/drawingml/2006/main">
              <a:ext uri="{FF2B5EF4-FFF2-40B4-BE49-F238E27FC236}">
                <a16:creationId xmlns:a16="http://schemas.microsoft.com/office/drawing/2014/main" id="{421D43C3-E79E-4635-AABA-B9B74AF3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52650"/>
            <a:ext cx="2762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9D0DB"/>
            </a:solidFill>
            <a:prstDash val="solid"/>
          </a:ln>
        </p:spPr>
      </p:sp>
      <p:sp>
        <p:nvSpPr>
          <p:cNvPr id="16" name="cell-0-3">
            <a:extLst xmlns:a="http://schemas.openxmlformats.org/drawingml/2006/main">
              <a:ext uri="{FF2B5EF4-FFF2-40B4-BE49-F238E27FC236}">
                <a16:creationId xmlns:a16="http://schemas.microsoft.com/office/drawing/2014/main" id="{B27BD8F2-8015-4301-8C02-3587D5EC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152650"/>
            <a:ext cx="2400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B"/>
            </a:solidFill>
            <a:prstDash val="solid"/>
          </a:ln>
        </p:spPr>
      </p:sp>
      <p:sp>
        <p:nvSpPr>
          <p:cNvPr id="17" name="ct-0-0">
            <a:extLst xmlns:a="http://schemas.openxmlformats.org/drawingml/2006/main">
              <a:ext uri="{FF2B5EF4-FFF2-40B4-BE49-F238E27FC236}">
                <a16:creationId xmlns:a16="http://schemas.microsoft.com/office/drawing/2014/main" id="{83D59059-EC9B-412D-8DCA-3BEE1DE2D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24100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데이터 사용권</a:t>
            </a:r>
          </a:p>
        </p:txBody>
      </p:sp>
      <p:sp>
        <p:nvSpPr>
          <p:cNvPr id="18" name="ct-0-1">
            <a:extLst xmlns:a="http://schemas.openxmlformats.org/drawingml/2006/main">
              <a:ext uri="{FF2B5EF4-FFF2-40B4-BE49-F238E27FC236}">
                <a16:creationId xmlns:a16="http://schemas.microsoft.com/office/drawing/2014/main" id="{33DB786D-7025-4BF8-8767-75AD1E67C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324100"/>
            <a:ext cx="335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수집 안정성·스냅샷 중심</a:t>
            </a:r>
          </a:p>
        </p:txBody>
      </p:sp>
      <p:sp>
        <p:nvSpPr>
          <p:cNvPr id="19" name="ct-0-2">
            <a:extLst xmlns:a="http://schemas.openxmlformats.org/drawingml/2006/main">
              <a:ext uri="{FF2B5EF4-FFF2-40B4-BE49-F238E27FC236}">
                <a16:creationId xmlns:a16="http://schemas.microsoft.com/office/drawing/2014/main" id="{28C990AD-BAE4-4FA1-A87C-39B6DBC5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24100"/>
            <a:ext cx="2495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출처·약관·재배포 조건</a:t>
            </a:r>
          </a:p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검토 상태를 함께 기록</a:t>
            </a:r>
          </a:p>
        </p:txBody>
      </p:sp>
      <p:sp>
        <p:nvSpPr>
          <p:cNvPr id="20" name="ct-0-3">
            <a:extLst xmlns:a="http://schemas.openxmlformats.org/drawingml/2006/main">
              <a:ext uri="{FF2B5EF4-FFF2-40B4-BE49-F238E27FC236}">
                <a16:creationId xmlns:a16="http://schemas.microsoft.com/office/drawing/2014/main" id="{9AF24118-7B63-4D38-A3BB-469571B7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241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수집/노출 제한</a:t>
            </a:r>
          </a:p>
        </p:txBody>
      </p:sp>
      <p:sp>
        <p:nvSpPr>
          <p:cNvPr id="21" name="cell-1-0">
            <a:extLst xmlns:a="http://schemas.openxmlformats.org/drawingml/2006/main">
              <a:ext uri="{FF2B5EF4-FFF2-40B4-BE49-F238E27FC236}">
                <a16:creationId xmlns:a16="http://schemas.microsoft.com/office/drawing/2014/main" id="{852951A8-8EFF-446A-827D-14882804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24955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B"/>
            </a:solidFill>
            <a:prstDash val="solid"/>
          </a:ln>
        </p:spPr>
      </p:sp>
      <p:sp>
        <p:nvSpPr>
          <p:cNvPr id="22" name="cell-1-1">
            <a:extLst xmlns:a="http://schemas.openxmlformats.org/drawingml/2006/main">
              <a:ext uri="{FF2B5EF4-FFF2-40B4-BE49-F238E27FC236}">
                <a16:creationId xmlns:a16="http://schemas.microsoft.com/office/drawing/2014/main" id="{96B0316A-7F56-44BE-AB57-33907A85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71800"/>
            <a:ext cx="3619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B"/>
            </a:solidFill>
            <a:prstDash val="solid"/>
          </a:ln>
        </p:spPr>
      </p:sp>
      <p:sp>
        <p:nvSpPr>
          <p:cNvPr id="23" name="cell-1-2">
            <a:extLst xmlns:a="http://schemas.openxmlformats.org/drawingml/2006/main">
              <a:ext uri="{FF2B5EF4-FFF2-40B4-BE49-F238E27FC236}">
                <a16:creationId xmlns:a16="http://schemas.microsoft.com/office/drawing/2014/main" id="{C1F8490A-3652-4D99-B70B-B32F941A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71800"/>
            <a:ext cx="2762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9D0DB"/>
            </a:solidFill>
            <a:prstDash val="solid"/>
          </a:ln>
        </p:spPr>
      </p:sp>
      <p:sp>
        <p:nvSpPr>
          <p:cNvPr id="24" name="cell-1-3">
            <a:extLst xmlns:a="http://schemas.openxmlformats.org/drawingml/2006/main">
              <a:ext uri="{FF2B5EF4-FFF2-40B4-BE49-F238E27FC236}">
                <a16:creationId xmlns:a16="http://schemas.microsoft.com/office/drawing/2014/main" id="{C1AC690E-0591-45D5-915E-DF269214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71800"/>
            <a:ext cx="2400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B"/>
            </a:solidFill>
            <a:prstDash val="solid"/>
          </a:ln>
        </p:spPr>
      </p:sp>
      <p:sp>
        <p:nvSpPr>
          <p:cNvPr id="25" name="ct-1-0">
            <a:extLst xmlns:a="http://schemas.openxmlformats.org/drawingml/2006/main">
              <a:ext uri="{FF2B5EF4-FFF2-40B4-BE49-F238E27FC236}">
                <a16:creationId xmlns:a16="http://schemas.microsoft.com/office/drawing/2014/main" id="{87B25CD8-6689-43FA-9092-FEB020D2F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0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공시·뉴스</a:t>
            </a:r>
          </a:p>
        </p:txBody>
      </p:sp>
      <p:sp>
        <p:nvSpPr>
          <p:cNvPr id="26" name="ct-1-1">
            <a:extLst xmlns:a="http://schemas.openxmlformats.org/drawingml/2006/main">
              <a:ext uri="{FF2B5EF4-FFF2-40B4-BE49-F238E27FC236}">
                <a16:creationId xmlns:a16="http://schemas.microsoft.com/office/drawing/2014/main" id="{3844E066-5BEE-42C4-A3BF-5463B4B4A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143250"/>
            <a:ext cx="335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이벤트를 분석 입력으로 사용</a:t>
            </a:r>
          </a:p>
        </p:txBody>
      </p:sp>
      <p:sp>
        <p:nvSpPr>
          <p:cNvPr id="27" name="ct-1-2">
            <a:extLst xmlns:a="http://schemas.openxmlformats.org/drawingml/2006/main">
              <a:ext uri="{FF2B5EF4-FFF2-40B4-BE49-F238E27FC236}">
                <a16:creationId xmlns:a16="http://schemas.microsoft.com/office/drawing/2014/main" id="{DF0EA372-128B-42F0-BD81-63CF249B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43250"/>
            <a:ext cx="2495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규제 쟁점·근거 링크·</a:t>
            </a:r>
          </a:p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검토 필요 사유를 제시</a:t>
            </a:r>
          </a:p>
        </p:txBody>
      </p:sp>
      <p:sp>
        <p:nvSpPr>
          <p:cNvPr id="28" name="ct-1-3">
            <a:extLst xmlns:a="http://schemas.openxmlformats.org/drawingml/2006/main">
              <a:ext uri="{FF2B5EF4-FFF2-40B4-BE49-F238E27FC236}">
                <a16:creationId xmlns:a16="http://schemas.microsoft.com/office/drawing/2014/main" id="{5767EBA5-45FA-4700-9A28-2375ADE0C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1432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검토 큐 등록</a:t>
            </a:r>
          </a:p>
        </p:txBody>
      </p:sp>
      <p:sp>
        <p:nvSpPr>
          <p:cNvPr id="29" name="cell-2-0">
            <a:extLst xmlns:a="http://schemas.openxmlformats.org/drawingml/2006/main">
              <a:ext uri="{FF2B5EF4-FFF2-40B4-BE49-F238E27FC236}">
                <a16:creationId xmlns:a16="http://schemas.microsoft.com/office/drawing/2014/main" id="{FAB367FF-F633-4F52-879D-7CB4F0B0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0950"/>
            <a:ext cx="24955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B"/>
            </a:solidFill>
            <a:prstDash val="solid"/>
          </a:ln>
        </p:spPr>
      </p:sp>
      <p:sp>
        <p:nvSpPr>
          <p:cNvPr id="30" name="cell-2-1">
            <a:extLst xmlns:a="http://schemas.openxmlformats.org/drawingml/2006/main">
              <a:ext uri="{FF2B5EF4-FFF2-40B4-BE49-F238E27FC236}">
                <a16:creationId xmlns:a16="http://schemas.microsoft.com/office/drawing/2014/main" id="{592B2F1F-C596-44D6-8C65-A80BF0F09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90950"/>
            <a:ext cx="3619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B"/>
            </a:solidFill>
            <a:prstDash val="solid"/>
          </a:ln>
        </p:spPr>
      </p:sp>
      <p:sp>
        <p:nvSpPr>
          <p:cNvPr id="31" name="cell-2-2">
            <a:extLst xmlns:a="http://schemas.openxmlformats.org/drawingml/2006/main">
              <a:ext uri="{FF2B5EF4-FFF2-40B4-BE49-F238E27FC236}">
                <a16:creationId xmlns:a16="http://schemas.microsoft.com/office/drawing/2014/main" id="{C51B27B3-4D83-4A12-8C89-4EC0D5A4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90950"/>
            <a:ext cx="2762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9D0DB"/>
            </a:solidFill>
            <a:prstDash val="solid"/>
          </a:ln>
        </p:spPr>
      </p:sp>
      <p:sp>
        <p:nvSpPr>
          <p:cNvPr id="32" name="cell-2-3">
            <a:extLst xmlns:a="http://schemas.openxmlformats.org/drawingml/2006/main">
              <a:ext uri="{FF2B5EF4-FFF2-40B4-BE49-F238E27FC236}">
                <a16:creationId xmlns:a16="http://schemas.microsoft.com/office/drawing/2014/main" id="{88DEAD45-4AF4-41C7-AF5C-F3E41E53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790950"/>
            <a:ext cx="2400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B"/>
            </a:solidFill>
            <a:prstDash val="solid"/>
          </a:ln>
        </p:spPr>
      </p:sp>
      <p:sp>
        <p:nvSpPr>
          <p:cNvPr id="33" name="ct-2-0">
            <a:extLst xmlns:a="http://schemas.openxmlformats.org/drawingml/2006/main">
              <a:ext uri="{FF2B5EF4-FFF2-40B4-BE49-F238E27FC236}">
                <a16:creationId xmlns:a16="http://schemas.microsoft.com/office/drawing/2014/main" id="{9EC97105-E6F1-4D62-90C2-5007C4F1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62400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사용자 문구</a:t>
            </a:r>
          </a:p>
        </p:txBody>
      </p:sp>
      <p:sp>
        <p:nvSpPr>
          <p:cNvPr id="34" name="ct-2-1">
            <a:extLst xmlns:a="http://schemas.openxmlformats.org/drawingml/2006/main">
              <a:ext uri="{FF2B5EF4-FFF2-40B4-BE49-F238E27FC236}">
                <a16:creationId xmlns:a16="http://schemas.microsoft.com/office/drawing/2014/main" id="{AFBA3829-822C-4321-8BF9-8EB89C49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962400"/>
            <a:ext cx="335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운영 설명·리포트 제공</a:t>
            </a:r>
          </a:p>
        </p:txBody>
      </p:sp>
      <p:sp>
        <p:nvSpPr>
          <p:cNvPr id="35" name="ct-2-2">
            <a:extLst xmlns:a="http://schemas.openxmlformats.org/drawingml/2006/main">
              <a:ext uri="{FF2B5EF4-FFF2-40B4-BE49-F238E27FC236}">
                <a16:creationId xmlns:a16="http://schemas.microsoft.com/office/drawing/2014/main" id="{76954A91-98EA-4288-972E-2D6AE6310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962400"/>
            <a:ext cx="2495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투자자문·확정 표현 위험</a:t>
            </a:r>
          </a:p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사전 탐지</a:t>
            </a:r>
          </a:p>
        </p:txBody>
      </p:sp>
      <p:sp>
        <p:nvSpPr>
          <p:cNvPr id="36" name="ct-2-3">
            <a:extLst xmlns:a="http://schemas.openxmlformats.org/drawingml/2006/main">
              <a:ext uri="{FF2B5EF4-FFF2-40B4-BE49-F238E27FC236}">
                <a16:creationId xmlns:a16="http://schemas.microsoft.com/office/drawing/2014/main" id="{054F103A-1BA8-4DA1-B899-1F58B984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962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문구 수정/승인</a:t>
            </a:r>
          </a:p>
        </p:txBody>
      </p:sp>
      <p:sp>
        <p:nvSpPr>
          <p:cNvPr id="37" name="cell-3-0">
            <a:extLst xmlns:a="http://schemas.openxmlformats.org/drawingml/2006/main">
              <a:ext uri="{FF2B5EF4-FFF2-40B4-BE49-F238E27FC236}">
                <a16:creationId xmlns:a16="http://schemas.microsoft.com/office/drawing/2014/main" id="{DF823905-D0CE-4883-8515-1860AB27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0100"/>
            <a:ext cx="24955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B"/>
            </a:solidFill>
            <a:prstDash val="solid"/>
          </a:ln>
        </p:spPr>
      </p:sp>
      <p:sp>
        <p:nvSpPr>
          <p:cNvPr id="38" name="cell-3-1">
            <a:extLst xmlns:a="http://schemas.openxmlformats.org/drawingml/2006/main">
              <a:ext uri="{FF2B5EF4-FFF2-40B4-BE49-F238E27FC236}">
                <a16:creationId xmlns:a16="http://schemas.microsoft.com/office/drawing/2014/main" id="{8F612ADA-B9EE-4DE0-938A-D01488783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10100"/>
            <a:ext cx="3619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B"/>
            </a:solidFill>
            <a:prstDash val="solid"/>
          </a:ln>
        </p:spPr>
      </p:sp>
      <p:sp>
        <p:nvSpPr>
          <p:cNvPr id="39" name="cell-3-2">
            <a:extLst xmlns:a="http://schemas.openxmlformats.org/drawingml/2006/main">
              <a:ext uri="{FF2B5EF4-FFF2-40B4-BE49-F238E27FC236}">
                <a16:creationId xmlns:a16="http://schemas.microsoft.com/office/drawing/2014/main" id="{65597F35-457C-4782-B3F7-8606A6E7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10100"/>
            <a:ext cx="2762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9D0DB"/>
            </a:solidFill>
            <a:prstDash val="solid"/>
          </a:ln>
        </p:spPr>
      </p:sp>
      <p:sp>
        <p:nvSpPr>
          <p:cNvPr id="40" name="cell-3-3">
            <a:extLst xmlns:a="http://schemas.openxmlformats.org/drawingml/2006/main">
              <a:ext uri="{FF2B5EF4-FFF2-40B4-BE49-F238E27FC236}">
                <a16:creationId xmlns:a16="http://schemas.microsoft.com/office/drawing/2014/main" id="{2EDD6CBB-FDE7-482C-8AB5-F76980F3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610100"/>
            <a:ext cx="2400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B"/>
            </a:solidFill>
            <a:prstDash val="solid"/>
          </a:ln>
        </p:spPr>
      </p:sp>
      <p:sp>
        <p:nvSpPr>
          <p:cNvPr id="41" name="ct-3-0">
            <a:extLst xmlns:a="http://schemas.openxmlformats.org/drawingml/2006/main">
              <a:ext uri="{FF2B5EF4-FFF2-40B4-BE49-F238E27FC236}">
                <a16:creationId xmlns:a16="http://schemas.microsoft.com/office/drawing/2014/main" id="{59CA2D2B-B1C6-4A32-802B-782BDD87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81550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감사 추적</a:t>
            </a:r>
          </a:p>
        </p:txBody>
      </p:sp>
      <p:sp>
        <p:nvSpPr>
          <p:cNvPr id="42" name="ct-3-1">
            <a:extLst xmlns:a="http://schemas.openxmlformats.org/drawingml/2006/main">
              <a:ext uri="{FF2B5EF4-FFF2-40B4-BE49-F238E27FC236}">
                <a16:creationId xmlns:a16="http://schemas.microsoft.com/office/drawing/2014/main" id="{FAD1350D-BC52-4246-8D72-8960FB8D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781550"/>
            <a:ext cx="335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주문·체결·EOD 근거 보관</a:t>
            </a:r>
          </a:p>
        </p:txBody>
      </p:sp>
      <p:sp>
        <p:nvSpPr>
          <p:cNvPr id="43" name="ct-3-2">
            <a:extLst xmlns:a="http://schemas.openxmlformats.org/drawingml/2006/main">
              <a:ext uri="{FF2B5EF4-FFF2-40B4-BE49-F238E27FC236}">
                <a16:creationId xmlns:a16="http://schemas.microsoft.com/office/drawing/2014/main" id="{4D58DE9D-4A80-4329-82E5-A8238A18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81550"/>
            <a:ext cx="2495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질문·근거·판단 한계·</a:t>
            </a:r>
          </a:p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승인 이력을 추가</a:t>
            </a:r>
          </a:p>
        </p:txBody>
      </p:sp>
      <p:sp>
        <p:nvSpPr>
          <p:cNvPr id="44" name="ct-3-3">
            <a:extLst xmlns:a="http://schemas.openxmlformats.org/drawingml/2006/main">
              <a:ext uri="{FF2B5EF4-FFF2-40B4-BE49-F238E27FC236}">
                <a16:creationId xmlns:a16="http://schemas.microsoft.com/office/drawing/2014/main" id="{CBC62FD6-752F-4E91-BEC2-B9D509C2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7815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승인 후 반영</a:t>
            </a:r>
          </a:p>
        </p:txBody>
      </p:sp>
      <p:sp>
        <p:nvSpPr>
          <p:cNvPr id="45" name="matrix-principle">
            <a:extLst xmlns:a="http://schemas.openxmlformats.org/drawingml/2006/main">
              <a:ext uri="{FF2B5EF4-FFF2-40B4-BE49-F238E27FC236}">
                <a16:creationId xmlns:a16="http://schemas.microsoft.com/office/drawing/2014/main" id="{A71717FD-BF6B-4480-BE5E-B8BE1290E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340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2413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C2413B"/>
                </a:solidFill>
                <a:latin typeface="Malgun Gothic"/>
                <a:ea typeface="Malgun Gothic"/>
                <a:cs typeface="Malgun Gothic"/>
              </a:rPr>
              <a:t>원칙: 법률 에이전트는 추천·주문·승격을 직접 실행하지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72024479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kicker-5">
            <a:extLst xmlns:a="http://schemas.openxmlformats.org/drawingml/2006/main">
              <a:ext uri="{FF2B5EF4-FFF2-40B4-BE49-F238E27FC236}">
                <a16:creationId xmlns:a16="http://schemas.microsoft.com/office/drawing/2014/main" id="{4E738727-8FCC-464D-8E87-C0D77050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97BE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97BE6"/>
                </a:solidFill>
                <a:latin typeface="Malgun Gothic"/>
                <a:ea typeface="Malgun Gothic"/>
                <a:cs typeface="Malgun Gothic"/>
              </a:rPr>
              <a:t>QUANTPILOT · LEGAL AGENT DRAFT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FD674835-E287-41BF-9328-F27E2E0C5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검토 흐름: 입력을 근거·위험·승인으로 변환</a:t>
            </a:r>
          </a:p>
        </p:txBody>
      </p:sp>
      <p:sp>
        <p:nvSpPr>
          <p:cNvPr id="3" name="page-5">
            <a:extLst xmlns:a="http://schemas.openxmlformats.org/drawingml/2006/main">
              <a:ext uri="{FF2B5EF4-FFF2-40B4-BE49-F238E27FC236}">
                <a16:creationId xmlns:a16="http://schemas.microsoft.com/office/drawing/2014/main" id="{526156A7-0402-41C7-AA5F-FBFAE805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AFDFF2-71A3-4572-9405-1231A94E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rrowline-0">
            <a:extLst xmlns:a="http://schemas.openxmlformats.org/drawingml/2006/main">
              <a:ext uri="{FF2B5EF4-FFF2-40B4-BE49-F238E27FC236}">
                <a16:creationId xmlns:a16="http://schemas.microsoft.com/office/drawing/2014/main" id="{26CD2B02-EF4E-4987-B707-A29FD81F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2385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rrow-0">
            <a:extLst xmlns:a="http://schemas.openxmlformats.org/drawingml/2006/main">
              <a:ext uri="{FF2B5EF4-FFF2-40B4-BE49-F238E27FC236}">
                <a16:creationId xmlns:a16="http://schemas.microsoft.com/office/drawing/2014/main" id="{8BD47AD5-5F69-4FCE-9DB5-CE150FB9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0099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7" name="step-0">
            <a:extLst xmlns:a="http://schemas.openxmlformats.org/drawingml/2006/main">
              <a:ext uri="{FF2B5EF4-FFF2-40B4-BE49-F238E27FC236}">
                <a16:creationId xmlns:a16="http://schemas.microsoft.com/office/drawing/2014/main" id="{6B6C136F-FD2C-4513-A66E-75714A14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18859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ep-num-0">
            <a:extLst xmlns:a="http://schemas.openxmlformats.org/drawingml/2006/main">
              <a:ext uri="{FF2B5EF4-FFF2-40B4-BE49-F238E27FC236}">
                <a16:creationId xmlns:a16="http://schemas.microsoft.com/office/drawing/2014/main" id="{F5C313C6-54FF-4C37-829B-0F7BE8CD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5270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97BE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97BE6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9" name="step-title-0">
            <a:extLst xmlns:a="http://schemas.openxmlformats.org/drawingml/2006/main">
              <a:ext uri="{FF2B5EF4-FFF2-40B4-BE49-F238E27FC236}">
                <a16:creationId xmlns:a16="http://schemas.microsoft.com/office/drawing/2014/main" id="{B5E93072-407B-44EB-9440-2C7F864E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051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입력 수집</a:t>
            </a:r>
          </a:p>
        </p:txBody>
      </p:sp>
      <p:sp>
        <p:nvSpPr>
          <p:cNvPr id="10" name="step-body-0">
            <a:extLst xmlns:a="http://schemas.openxmlformats.org/drawingml/2006/main">
              <a:ext uri="{FF2B5EF4-FFF2-40B4-BE49-F238E27FC236}">
                <a16:creationId xmlns:a16="http://schemas.microsoft.com/office/drawing/2014/main" id="{EAA96EA5-409C-4FFB-9C09-7DAA0817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62350"/>
            <a:ext cx="152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데이터 소스, 공시, 사용자 문구, 운영 변경</a:t>
            </a:r>
          </a:p>
        </p:txBody>
      </p:sp>
      <p:sp>
        <p:nvSpPr>
          <p:cNvPr id="11" name="arrowline-1">
            <a:extLst xmlns:a="http://schemas.openxmlformats.org/drawingml/2006/main">
              <a:ext uri="{FF2B5EF4-FFF2-40B4-BE49-F238E27FC236}">
                <a16:creationId xmlns:a16="http://schemas.microsoft.com/office/drawing/2014/main" id="{3D2DDA8F-874C-4B3A-8078-55CA2767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2385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rrow-1">
            <a:extLst xmlns:a="http://schemas.openxmlformats.org/drawingml/2006/main">
              <a:ext uri="{FF2B5EF4-FFF2-40B4-BE49-F238E27FC236}">
                <a16:creationId xmlns:a16="http://schemas.microsoft.com/office/drawing/2014/main" id="{D34C3882-2C7A-441F-A7BD-94E810AF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099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13" name="step-1">
            <a:extLst xmlns:a="http://schemas.openxmlformats.org/drawingml/2006/main">
              <a:ext uri="{FF2B5EF4-FFF2-40B4-BE49-F238E27FC236}">
                <a16:creationId xmlns:a16="http://schemas.microsoft.com/office/drawing/2014/main" id="{AA6915F7-F4D2-4D28-9BB6-4DB1F885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343150"/>
            <a:ext cx="18859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tep-num-1">
            <a:extLst xmlns:a="http://schemas.openxmlformats.org/drawingml/2006/main">
              <a:ext uri="{FF2B5EF4-FFF2-40B4-BE49-F238E27FC236}">
                <a16:creationId xmlns:a16="http://schemas.microsoft.com/office/drawing/2014/main" id="{079D290E-7593-4157-9A1C-6900D1F7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5270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97BE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97BE6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212A2821-781C-422F-B290-4C9C00705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1051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쟁점 분류</a:t>
            </a:r>
          </a:p>
        </p:txBody>
      </p:sp>
      <p:sp>
        <p:nvSpPr>
          <p:cNvPr id="16" name="step-body-1">
            <a:extLst xmlns:a="http://schemas.openxmlformats.org/drawingml/2006/main">
              <a:ext uri="{FF2B5EF4-FFF2-40B4-BE49-F238E27FC236}">
                <a16:creationId xmlns:a16="http://schemas.microsoft.com/office/drawing/2014/main" id="{6F3959C5-2316-4932-ABDF-C7B03192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562350"/>
            <a:ext cx="152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사용권 · 공시 · 투자자문 오인 · 개인정보</a:t>
            </a:r>
          </a:p>
        </p:txBody>
      </p:sp>
      <p:sp>
        <p:nvSpPr>
          <p:cNvPr id="17" name="arrowline-2">
            <a:extLst xmlns:a="http://schemas.openxmlformats.org/drawingml/2006/main">
              <a:ext uri="{FF2B5EF4-FFF2-40B4-BE49-F238E27FC236}">
                <a16:creationId xmlns:a16="http://schemas.microsoft.com/office/drawing/2014/main" id="{163E050F-9CB6-407C-A39B-80362FF2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2385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rrow-2">
            <a:extLst xmlns:a="http://schemas.openxmlformats.org/drawingml/2006/main">
              <a:ext uri="{FF2B5EF4-FFF2-40B4-BE49-F238E27FC236}">
                <a16:creationId xmlns:a16="http://schemas.microsoft.com/office/drawing/2014/main" id="{70212199-5B04-42EA-A9D3-4C20EE9A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0099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19" name="step-2">
            <a:extLst xmlns:a="http://schemas.openxmlformats.org/drawingml/2006/main">
              <a:ext uri="{FF2B5EF4-FFF2-40B4-BE49-F238E27FC236}">
                <a16:creationId xmlns:a16="http://schemas.microsoft.com/office/drawing/2014/main" id="{D984331B-A5CE-42E3-8EAE-C41A56F1E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43150"/>
            <a:ext cx="18859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tep-num-2">
            <a:extLst xmlns:a="http://schemas.openxmlformats.org/drawingml/2006/main">
              <a:ext uri="{FF2B5EF4-FFF2-40B4-BE49-F238E27FC236}">
                <a16:creationId xmlns:a16="http://schemas.microsoft.com/office/drawing/2014/main" id="{FC4F5E94-8F17-45CB-9710-CF235CA0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5270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97BE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97BE6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1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890E3402-9AF0-4882-B25F-F00EDCA4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1051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근거 연결</a:t>
            </a:r>
          </a:p>
        </p:txBody>
      </p:sp>
      <p:sp>
        <p:nvSpPr>
          <p:cNvPr id="22" name="step-body-2">
            <a:extLst xmlns:a="http://schemas.openxmlformats.org/drawingml/2006/main">
              <a:ext uri="{FF2B5EF4-FFF2-40B4-BE49-F238E27FC236}">
                <a16:creationId xmlns:a16="http://schemas.microsoft.com/office/drawing/2014/main" id="{12E21A69-6CF3-4F89-BC9E-25774A889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562350"/>
            <a:ext cx="152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원문, 수집 시각, 적용 범위, 신뢰도</a:t>
            </a:r>
          </a:p>
        </p:txBody>
      </p:sp>
      <p:sp>
        <p:nvSpPr>
          <p:cNvPr id="23" name="arrowline-3">
            <a:extLst xmlns:a="http://schemas.openxmlformats.org/drawingml/2006/main">
              <a:ext uri="{FF2B5EF4-FFF2-40B4-BE49-F238E27FC236}">
                <a16:creationId xmlns:a16="http://schemas.microsoft.com/office/drawing/2014/main" id="{07FEBE90-84E6-4A36-8467-EA71D5C72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2385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arrow-3">
            <a:extLst xmlns:a="http://schemas.openxmlformats.org/drawingml/2006/main">
              <a:ext uri="{FF2B5EF4-FFF2-40B4-BE49-F238E27FC236}">
                <a16:creationId xmlns:a16="http://schemas.microsoft.com/office/drawing/2014/main" id="{975332C0-A249-43D6-B1ED-4E1EE3C4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099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25" name="step-3">
            <a:extLst xmlns:a="http://schemas.openxmlformats.org/drawingml/2006/main">
              <a:ext uri="{FF2B5EF4-FFF2-40B4-BE49-F238E27FC236}">
                <a16:creationId xmlns:a16="http://schemas.microsoft.com/office/drawing/2014/main" id="{E6C9B002-AF45-43B2-9D81-E113BED8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43150"/>
            <a:ext cx="18859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tep-num-3">
            <a:extLst xmlns:a="http://schemas.openxmlformats.org/drawingml/2006/main">
              <a:ext uri="{FF2B5EF4-FFF2-40B4-BE49-F238E27FC236}">
                <a16:creationId xmlns:a16="http://schemas.microsoft.com/office/drawing/2014/main" id="{77EBA9B5-AC31-4519-A5D1-6B1308F0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5270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97BE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97BE6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7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108C1C9E-0884-4A87-BC7A-15700650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051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조치 제안</a:t>
            </a:r>
          </a:p>
        </p:txBody>
      </p:sp>
      <p:sp>
        <p:nvSpPr>
          <p:cNvPr id="28" name="step-body-3">
            <a:extLst xmlns:a="http://schemas.openxmlformats.org/drawingml/2006/main">
              <a:ext uri="{FF2B5EF4-FFF2-40B4-BE49-F238E27FC236}">
                <a16:creationId xmlns:a16="http://schemas.microsoft.com/office/drawing/2014/main" id="{DBDD285E-D695-4511-BCDB-8D9301DB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62350"/>
            <a:ext cx="152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허용 · 제한 · 담당자 검토 · 차단</a:t>
            </a:r>
          </a:p>
        </p:txBody>
      </p:sp>
      <p:sp>
        <p:nvSpPr>
          <p:cNvPr id="29" name="step-4">
            <a:extLst xmlns:a="http://schemas.openxmlformats.org/drawingml/2006/main">
              <a:ext uri="{FF2B5EF4-FFF2-40B4-BE49-F238E27FC236}">
                <a16:creationId xmlns:a16="http://schemas.microsoft.com/office/drawing/2014/main" id="{C023A544-2143-4B11-8304-106B7AF3D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43150"/>
            <a:ext cx="18859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step-num-4">
            <a:extLst xmlns:a="http://schemas.openxmlformats.org/drawingml/2006/main">
              <a:ext uri="{FF2B5EF4-FFF2-40B4-BE49-F238E27FC236}">
                <a16:creationId xmlns:a16="http://schemas.microsoft.com/office/drawing/2014/main" id="{49A59FA7-C04F-4109-A556-69538ED2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5270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97BE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97BE6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1" name="step-title-4">
            <a:extLst xmlns:a="http://schemas.openxmlformats.org/drawingml/2006/main">
              <a:ext uri="{FF2B5EF4-FFF2-40B4-BE49-F238E27FC236}">
                <a16:creationId xmlns:a16="http://schemas.microsoft.com/office/drawing/2014/main" id="{044D8CDE-8E14-4BCE-983B-8828C047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051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승인 기록</a:t>
            </a:r>
          </a:p>
        </p:txBody>
      </p:sp>
      <p:sp>
        <p:nvSpPr>
          <p:cNvPr id="32" name="step-body-4">
            <a:extLst xmlns:a="http://schemas.openxmlformats.org/drawingml/2006/main">
              <a:ext uri="{FF2B5EF4-FFF2-40B4-BE49-F238E27FC236}">
                <a16:creationId xmlns:a16="http://schemas.microsoft.com/office/drawing/2014/main" id="{79838691-F1B7-4E83-801C-1F27562A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62350"/>
            <a:ext cx="152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담당자 판단과 최종 반영 이력</a:t>
            </a:r>
          </a:p>
        </p:txBody>
      </p:sp>
      <p:sp>
        <p:nvSpPr>
          <p:cNvPr id="33" name="flow-principle">
            <a:extLst xmlns:a="http://schemas.openxmlformats.org/drawingml/2006/main">
              <a:ext uri="{FF2B5EF4-FFF2-40B4-BE49-F238E27FC236}">
                <a16:creationId xmlns:a16="http://schemas.microsoft.com/office/drawing/2014/main" id="{20573AB8-E248-45AE-8B7A-CBCFFAA8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82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자동화 범위는 “분류·근거 제시·기록”까지이며, 법률 해석의 확정과 서비스 정책 반영은 사람의 승인 단계에 남깁니다.</a:t>
            </a:r>
          </a:p>
        </p:txBody>
      </p:sp>
    </p:spTree>
    <p:extLst>
      <p:ext uri="{BB962C8B-B14F-4D97-AF65-F5344CB8AC3E}">
        <p14:creationId xmlns:p14="http://schemas.microsoft.com/office/powerpoint/2010/main" val="202680101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kicker-6">
            <a:extLst xmlns:a="http://schemas.openxmlformats.org/drawingml/2006/main">
              <a:ext uri="{FF2B5EF4-FFF2-40B4-BE49-F238E27FC236}">
                <a16:creationId xmlns:a16="http://schemas.microsoft.com/office/drawing/2014/main" id="{B3DA84FF-38B7-4A01-876C-0D8229958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97BE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97BE6"/>
                </a:solidFill>
                <a:latin typeface="Malgun Gothic"/>
                <a:ea typeface="Malgun Gothic"/>
                <a:cs typeface="Malgun Gothic"/>
              </a:rPr>
              <a:t>QUANTPILOT · LEGAL AGENT DRAFT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64004B4A-46D2-4CEB-957A-3E2476F3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법률 에이전트 KPI는 “정확도”보다 “검토 통제”부터 측정합니다.</a:t>
            </a:r>
          </a:p>
        </p:txBody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33856558-CA30-40CB-9449-54712FEA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C77516-601F-4AE1-BACD-14CEDAE3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kpi-0">
            <a:extLst xmlns:a="http://schemas.openxmlformats.org/drawingml/2006/main">
              <a:ext uri="{FF2B5EF4-FFF2-40B4-BE49-F238E27FC236}">
                <a16:creationId xmlns:a16="http://schemas.microsoft.com/office/drawing/2014/main" id="{94292589-F22B-4777-AB61-C4332C181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5219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pi-head-0">
            <a:extLst xmlns:a="http://schemas.openxmlformats.org/drawingml/2006/main">
              <a:ext uri="{FF2B5EF4-FFF2-40B4-BE49-F238E27FC236}">
                <a16:creationId xmlns:a16="http://schemas.microsoft.com/office/drawing/2014/main" id="{72C6D15A-1A2C-4F20-AAAD-43EE7E7B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출처 연결률</a:t>
            </a:r>
          </a:p>
        </p:txBody>
      </p:sp>
      <p:sp>
        <p:nvSpPr>
          <p:cNvPr id="7" name="cur-0">
            <a:extLst xmlns:a="http://schemas.openxmlformats.org/drawingml/2006/main">
              <a:ext uri="{FF2B5EF4-FFF2-40B4-BE49-F238E27FC236}">
                <a16:creationId xmlns:a16="http://schemas.microsoft.com/office/drawing/2014/main" id="{4C812A7A-27FF-44A2-B994-14ACB98EE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ur-0-text">
            <a:extLst xmlns:a="http://schemas.openxmlformats.org/drawingml/2006/main">
              <a:ext uri="{FF2B5EF4-FFF2-40B4-BE49-F238E27FC236}">
                <a16:creationId xmlns:a16="http://schemas.microsoft.com/office/drawing/2014/main" id="{9E6738D0-D53C-4CE6-BC5A-A06F21AC6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62225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현황: 미측정</a:t>
            </a:r>
          </a:p>
        </p:txBody>
      </p:sp>
      <p:sp>
        <p:nvSpPr>
          <p:cNvPr id="9" name="target-0">
            <a:extLst xmlns:a="http://schemas.openxmlformats.org/drawingml/2006/main">
              <a:ext uri="{FF2B5EF4-FFF2-40B4-BE49-F238E27FC236}">
                <a16:creationId xmlns:a16="http://schemas.microsoft.com/office/drawing/2014/main" id="{6F1A3228-0D57-49AC-A412-284D30B95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514600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rget-0-text">
            <a:extLst xmlns:a="http://schemas.openxmlformats.org/drawingml/2006/main">
              <a:ext uri="{FF2B5EF4-FFF2-40B4-BE49-F238E27FC236}">
                <a16:creationId xmlns:a16="http://schemas.microsoft.com/office/drawing/2014/main" id="{555777F6-B7B7-4110-AF59-DD2894F1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56222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803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5803D"/>
                </a:solidFill>
                <a:latin typeface="Malgun Gothic"/>
                <a:ea typeface="Malgun Gothic"/>
                <a:cs typeface="Malgun Gothic"/>
              </a:rPr>
              <a:t>목표: 100%</a:t>
            </a:r>
          </a:p>
        </p:txBody>
      </p:sp>
      <p:sp>
        <p:nvSpPr>
          <p:cNvPr id="11" name="kpi-body-0">
            <a:extLst xmlns:a="http://schemas.openxmlformats.org/drawingml/2006/main">
              <a:ext uri="{FF2B5EF4-FFF2-40B4-BE49-F238E27FC236}">
                <a16:creationId xmlns:a16="http://schemas.microsoft.com/office/drawing/2014/main" id="{68D9201B-CB3F-437D-99BD-7A044AC0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95550"/>
            <a:ext cx="1885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검토 결과에 근거 링크·수집시각 보관</a:t>
            </a:r>
          </a:p>
        </p:txBody>
      </p:sp>
      <p:sp>
        <p:nvSpPr>
          <p:cNvPr id="12" name="kpi-1">
            <a:extLst xmlns:a="http://schemas.openxmlformats.org/drawingml/2006/main">
              <a:ext uri="{FF2B5EF4-FFF2-40B4-BE49-F238E27FC236}">
                <a16:creationId xmlns:a16="http://schemas.microsoft.com/office/drawing/2014/main" id="{CA75CA2C-59B8-47E2-8ADA-4D70F0294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09750"/>
            <a:ext cx="5219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kpi-head-1">
            <a:extLst xmlns:a="http://schemas.openxmlformats.org/drawingml/2006/main">
              <a:ext uri="{FF2B5EF4-FFF2-40B4-BE49-F238E27FC236}">
                <a16:creationId xmlns:a16="http://schemas.microsoft.com/office/drawing/2014/main" id="{1932A0C1-6C06-4118-A711-A271C1B03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383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고위험 이관률</a:t>
            </a:r>
          </a:p>
        </p:txBody>
      </p:sp>
      <p:sp>
        <p:nvSpPr>
          <p:cNvPr id="14" name="cur-1">
            <a:extLst xmlns:a="http://schemas.openxmlformats.org/drawingml/2006/main">
              <a:ext uri="{FF2B5EF4-FFF2-40B4-BE49-F238E27FC236}">
                <a16:creationId xmlns:a16="http://schemas.microsoft.com/office/drawing/2014/main" id="{0DFC70A4-F685-401F-ACEC-D0FD3D58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1460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ur-1-text">
            <a:extLst xmlns:a="http://schemas.openxmlformats.org/drawingml/2006/main">
              <a:ext uri="{FF2B5EF4-FFF2-40B4-BE49-F238E27FC236}">
                <a16:creationId xmlns:a16="http://schemas.microsoft.com/office/drawing/2014/main" id="{F6DDC583-CCFD-4479-9F95-369A2CDA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62225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현황: 미측정</a:t>
            </a:r>
          </a:p>
        </p:txBody>
      </p:sp>
      <p:sp>
        <p:nvSpPr>
          <p:cNvPr id="16" name="target-1">
            <a:extLst xmlns:a="http://schemas.openxmlformats.org/drawingml/2006/main">
              <a:ext uri="{FF2B5EF4-FFF2-40B4-BE49-F238E27FC236}">
                <a16:creationId xmlns:a16="http://schemas.microsoft.com/office/drawing/2014/main" id="{3FCD09C6-EDE3-49B8-B1D4-E7FC9EE2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514600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arget-1-text">
            <a:extLst xmlns:a="http://schemas.openxmlformats.org/drawingml/2006/main">
              <a:ext uri="{FF2B5EF4-FFF2-40B4-BE49-F238E27FC236}">
                <a16:creationId xmlns:a16="http://schemas.microsoft.com/office/drawing/2014/main" id="{5E3FB8C8-3C91-489E-A08C-325279FA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6222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803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5803D"/>
                </a:solidFill>
                <a:latin typeface="Malgun Gothic"/>
                <a:ea typeface="Malgun Gothic"/>
                <a:cs typeface="Malgun Gothic"/>
              </a:rPr>
              <a:t>목표: 100%</a:t>
            </a:r>
          </a:p>
        </p:txBody>
      </p:sp>
      <p:sp>
        <p:nvSpPr>
          <p:cNvPr id="18" name="kpi-body-1">
            <a:extLst xmlns:a="http://schemas.openxmlformats.org/drawingml/2006/main">
              <a:ext uri="{FF2B5EF4-FFF2-40B4-BE49-F238E27FC236}">
                <a16:creationId xmlns:a16="http://schemas.microsoft.com/office/drawing/2014/main" id="{460ACB5E-9D0B-429B-88B4-1E3D9F26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95550"/>
            <a:ext cx="1885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고위험 분류 건은 담당자 승인 없이 반영 금지</a:t>
            </a:r>
          </a:p>
        </p:txBody>
      </p:sp>
      <p:sp>
        <p:nvSpPr>
          <p:cNvPr id="19" name="kpi-2">
            <a:extLst xmlns:a="http://schemas.openxmlformats.org/drawingml/2006/main">
              <a:ext uri="{FF2B5EF4-FFF2-40B4-BE49-F238E27FC236}">
                <a16:creationId xmlns:a16="http://schemas.microsoft.com/office/drawing/2014/main" id="{4E4675B6-E1FE-4EF3-A13F-67D1BE4B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81400"/>
            <a:ext cx="5219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kpi-head-2">
            <a:extLst xmlns:a="http://schemas.openxmlformats.org/drawingml/2006/main">
              <a:ext uri="{FF2B5EF4-FFF2-40B4-BE49-F238E27FC236}">
                <a16:creationId xmlns:a16="http://schemas.microsoft.com/office/drawing/2014/main" id="{E9874604-BA00-48A8-B323-B2115DF90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승인 이력률</a:t>
            </a:r>
          </a:p>
        </p:txBody>
      </p:sp>
      <p:sp>
        <p:nvSpPr>
          <p:cNvPr id="21" name="cur-2">
            <a:extLst xmlns:a="http://schemas.openxmlformats.org/drawingml/2006/main">
              <a:ext uri="{FF2B5EF4-FFF2-40B4-BE49-F238E27FC236}">
                <a16:creationId xmlns:a16="http://schemas.microsoft.com/office/drawing/2014/main" id="{0EB8C8E9-24C8-4551-B11D-CDF8BAA3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ur-2-text">
            <a:extLst xmlns:a="http://schemas.openxmlformats.org/drawingml/2006/main">
              <a:ext uri="{FF2B5EF4-FFF2-40B4-BE49-F238E27FC236}">
                <a16:creationId xmlns:a16="http://schemas.microsoft.com/office/drawing/2014/main" id="{E913E3F4-0ECF-4B85-9129-008A2FB6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33875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현황: 미측정</a:t>
            </a:r>
          </a:p>
        </p:txBody>
      </p:sp>
      <p:sp>
        <p:nvSpPr>
          <p:cNvPr id="23" name="target-2">
            <a:extLst xmlns:a="http://schemas.openxmlformats.org/drawingml/2006/main">
              <a:ext uri="{FF2B5EF4-FFF2-40B4-BE49-F238E27FC236}">
                <a16:creationId xmlns:a16="http://schemas.microsoft.com/office/drawing/2014/main" id="{45FDD179-144B-481F-8B92-025F283B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286250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arget-2-text">
            <a:extLst xmlns:a="http://schemas.openxmlformats.org/drawingml/2006/main">
              <a:ext uri="{FF2B5EF4-FFF2-40B4-BE49-F238E27FC236}">
                <a16:creationId xmlns:a16="http://schemas.microsoft.com/office/drawing/2014/main" id="{DEA595F7-B1BE-485A-AF77-6D67A055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3338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803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5803D"/>
                </a:solidFill>
                <a:latin typeface="Malgun Gothic"/>
                <a:ea typeface="Malgun Gothic"/>
                <a:cs typeface="Malgun Gothic"/>
              </a:rPr>
              <a:t>목표: 100%</a:t>
            </a:r>
          </a:p>
        </p:txBody>
      </p:sp>
      <p:sp>
        <p:nvSpPr>
          <p:cNvPr id="25" name="kpi-body-2">
            <a:extLst xmlns:a="http://schemas.openxmlformats.org/drawingml/2006/main">
              <a:ext uri="{FF2B5EF4-FFF2-40B4-BE49-F238E27FC236}">
                <a16:creationId xmlns:a16="http://schemas.microsoft.com/office/drawing/2014/main" id="{39078890-7970-4FA3-AE61-73E86E64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267200"/>
            <a:ext cx="1885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정책·문구 변경에 승인자·사유 보관</a:t>
            </a:r>
          </a:p>
        </p:txBody>
      </p:sp>
      <p:sp>
        <p:nvSpPr>
          <p:cNvPr id="26" name="kpi-3">
            <a:extLst xmlns:a="http://schemas.openxmlformats.org/drawingml/2006/main">
              <a:ext uri="{FF2B5EF4-FFF2-40B4-BE49-F238E27FC236}">
                <a16:creationId xmlns:a16="http://schemas.microsoft.com/office/drawing/2014/main" id="{1C5136CE-C1EB-4A07-AFCE-B39EF0C6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581400"/>
            <a:ext cx="5219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kpi-head-3">
            <a:extLst xmlns:a="http://schemas.openxmlformats.org/drawingml/2006/main">
              <a:ext uri="{FF2B5EF4-FFF2-40B4-BE49-F238E27FC236}">
                <a16:creationId xmlns:a16="http://schemas.microsoft.com/office/drawing/2014/main" id="{DC3A8711-F138-419E-9B74-BD883AEC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100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평균 검토시간</a:t>
            </a:r>
          </a:p>
        </p:txBody>
      </p:sp>
      <p:sp>
        <p:nvSpPr>
          <p:cNvPr id="28" name="cur-3">
            <a:extLst xmlns:a="http://schemas.openxmlformats.org/drawingml/2006/main">
              <a:ext uri="{FF2B5EF4-FFF2-40B4-BE49-F238E27FC236}">
                <a16:creationId xmlns:a16="http://schemas.microsoft.com/office/drawing/2014/main" id="{A5F77F81-CC2F-4887-AD91-7E5770842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862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cur-3-text">
            <a:extLst xmlns:a="http://schemas.openxmlformats.org/drawingml/2006/main">
              <a:ext uri="{FF2B5EF4-FFF2-40B4-BE49-F238E27FC236}">
                <a16:creationId xmlns:a16="http://schemas.microsoft.com/office/drawing/2014/main" id="{9DAE67AB-1D48-495E-B93C-4A4BDF02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33875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현황: 미측정</a:t>
            </a:r>
          </a:p>
        </p:txBody>
      </p:sp>
      <p:sp>
        <p:nvSpPr>
          <p:cNvPr id="30" name="target-3">
            <a:extLst xmlns:a="http://schemas.openxmlformats.org/drawingml/2006/main">
              <a:ext uri="{FF2B5EF4-FFF2-40B4-BE49-F238E27FC236}">
                <a16:creationId xmlns:a16="http://schemas.microsoft.com/office/drawing/2014/main" id="{0C37DED9-E93F-4046-8051-320191CE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286250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arget-3-text">
            <a:extLst xmlns:a="http://schemas.openxmlformats.org/drawingml/2006/main">
              <a:ext uri="{FF2B5EF4-FFF2-40B4-BE49-F238E27FC236}">
                <a16:creationId xmlns:a16="http://schemas.microsoft.com/office/drawing/2014/main" id="{B8AB6D45-DBC7-4615-832A-1740A7DC4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3338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803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5803D"/>
                </a:solidFill>
                <a:latin typeface="Malgun Gothic"/>
                <a:ea typeface="Malgun Gothic"/>
                <a:cs typeface="Malgun Gothic"/>
              </a:rPr>
              <a:t>목표: 별도 합의</a:t>
            </a:r>
          </a:p>
        </p:txBody>
      </p:sp>
      <p:sp>
        <p:nvSpPr>
          <p:cNvPr id="32" name="kpi-body-3">
            <a:extLst xmlns:a="http://schemas.openxmlformats.org/drawingml/2006/main">
              <a:ext uri="{FF2B5EF4-FFF2-40B4-BE49-F238E27FC236}">
                <a16:creationId xmlns:a16="http://schemas.microsoft.com/office/drawing/2014/main" id="{BB0852A5-649E-4320-9CF2-D2BFFF11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267200"/>
            <a:ext cx="1885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대기 큐가 운영 병목이 되는지 관찰</a:t>
            </a:r>
          </a:p>
        </p:txBody>
      </p:sp>
      <p:sp>
        <p:nvSpPr>
          <p:cNvPr id="33" name="kpi-warning">
            <a:extLst xmlns:a="http://schemas.openxmlformats.org/drawingml/2006/main">
              <a:ext uri="{FF2B5EF4-FFF2-40B4-BE49-F238E27FC236}">
                <a16:creationId xmlns:a16="http://schemas.microsoft.com/office/drawing/2014/main" id="{BD4FBA81-FE11-4CA8-B8DB-25CA85F8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2413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C2413B"/>
                </a:solidFill>
                <a:latin typeface="Malgun Gothic"/>
                <a:ea typeface="Malgun Gothic"/>
                <a:cs typeface="Malgun Gothic"/>
              </a:rPr>
              <a:t>“목표”는 제안값입니다. 법령 적용 범위, 담당 조직, 검토 SLA를 정한 뒤 확정해야 합니다.</a:t>
            </a:r>
          </a:p>
        </p:txBody>
      </p:sp>
    </p:spTree>
    <p:extLst>
      <p:ext uri="{BB962C8B-B14F-4D97-AF65-F5344CB8AC3E}">
        <p14:creationId xmlns:p14="http://schemas.microsoft.com/office/powerpoint/2010/main" val="182562367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kicker-7">
            <a:extLst xmlns:a="http://schemas.openxmlformats.org/drawingml/2006/main">
              <a:ext uri="{FF2B5EF4-FFF2-40B4-BE49-F238E27FC236}">
                <a16:creationId xmlns:a16="http://schemas.microsoft.com/office/drawing/2014/main" id="{F8551FD0-F960-4E4E-8944-36BBBA5A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97BE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97BE6"/>
                </a:solidFill>
                <a:latin typeface="Malgun Gothic"/>
                <a:ea typeface="Malgun Gothic"/>
                <a:cs typeface="Malgun Gothic"/>
              </a:rPr>
              <a:t>QUANTPILOT · LEGAL AGENT DRAFT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D5E2F335-BB6D-4291-A088-9719DFAF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559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권한 경계: 에이전트는 판단을 보조하고, 시스템은 안전하게 제한합니다.</a:t>
            </a:r>
          </a:p>
        </p:txBody>
      </p:sp>
      <p:sp>
        <p:nvSpPr>
          <p:cNvPr id="3" name="page-7">
            <a:extLst xmlns:a="http://schemas.openxmlformats.org/drawingml/2006/main">
              <a:ext uri="{FF2B5EF4-FFF2-40B4-BE49-F238E27FC236}">
                <a16:creationId xmlns:a16="http://schemas.microsoft.com/office/drawing/2014/main" id="{BAD5D458-D57D-4432-859C-94B06990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5FDABA-EA1F-4824-A9F7-64FECFDAA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uth-0">
            <a:extLst xmlns:a="http://schemas.openxmlformats.org/drawingml/2006/main">
              <a:ext uri="{FF2B5EF4-FFF2-40B4-BE49-F238E27FC236}">
                <a16:creationId xmlns:a16="http://schemas.microsoft.com/office/drawing/2014/main" id="{6DA8B598-4BC1-40D7-A466-D9BB2EA38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33718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uth-title-0">
            <a:extLst xmlns:a="http://schemas.openxmlformats.org/drawingml/2006/main">
              <a:ext uri="{FF2B5EF4-FFF2-40B4-BE49-F238E27FC236}">
                <a16:creationId xmlns:a16="http://schemas.microsoft.com/office/drawing/2014/main" id="{CEDC2D8C-673B-4A74-8967-25E41173F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에이전트가 하는 일</a:t>
            </a:r>
          </a:p>
        </p:txBody>
      </p:sp>
      <p:sp>
        <p:nvSpPr>
          <p:cNvPr id="7" name="authdot-0-0">
            <a:extLst xmlns:a="http://schemas.openxmlformats.org/drawingml/2006/main">
              <a:ext uri="{FF2B5EF4-FFF2-40B4-BE49-F238E27FC236}">
                <a16:creationId xmlns:a16="http://schemas.microsoft.com/office/drawing/2014/main" id="{44FDBE2A-C1CD-49D5-BDC4-59E26EC9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97BE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97BE6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8" name="authline-0-0">
            <a:extLst xmlns:a="http://schemas.openxmlformats.org/drawingml/2006/main">
              <a:ext uri="{FF2B5EF4-FFF2-40B4-BE49-F238E27FC236}">
                <a16:creationId xmlns:a16="http://schemas.microsoft.com/office/drawing/2014/main" id="{DD6C795C-4291-44B4-91AA-00F101E75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쟁점 분류</a:t>
            </a:r>
          </a:p>
        </p:txBody>
      </p:sp>
      <p:sp>
        <p:nvSpPr>
          <p:cNvPr id="9" name="authdot-0-1">
            <a:extLst xmlns:a="http://schemas.openxmlformats.org/drawingml/2006/main">
              <a:ext uri="{FF2B5EF4-FFF2-40B4-BE49-F238E27FC236}">
                <a16:creationId xmlns:a16="http://schemas.microsoft.com/office/drawing/2014/main" id="{770E2DD3-5DD9-40BF-823D-1C4B8F1A5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97BE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97BE6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authline-0-1">
            <a:extLst xmlns:a="http://schemas.openxmlformats.org/drawingml/2006/main">
              <a:ext uri="{FF2B5EF4-FFF2-40B4-BE49-F238E27FC236}">
                <a16:creationId xmlns:a16="http://schemas.microsoft.com/office/drawing/2014/main" id="{FBB1AC6C-074E-42C4-81AC-C90C44C9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근거·인용 제시</a:t>
            </a:r>
          </a:p>
        </p:txBody>
      </p:sp>
      <p:sp>
        <p:nvSpPr>
          <p:cNvPr id="11" name="authdot-0-2">
            <a:extLst xmlns:a="http://schemas.openxmlformats.org/drawingml/2006/main">
              <a:ext uri="{FF2B5EF4-FFF2-40B4-BE49-F238E27FC236}">
                <a16:creationId xmlns:a16="http://schemas.microsoft.com/office/drawing/2014/main" id="{BD3CA063-2913-4F22-BE4E-8B9DB402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97BE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97BE6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authline-0-2">
            <a:extLst xmlns:a="http://schemas.openxmlformats.org/drawingml/2006/main">
              <a:ext uri="{FF2B5EF4-FFF2-40B4-BE49-F238E27FC236}">
                <a16:creationId xmlns:a16="http://schemas.microsoft.com/office/drawing/2014/main" id="{A5065378-B256-4A94-B714-0FC51CBE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957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위험 등급 부여</a:t>
            </a:r>
          </a:p>
        </p:txBody>
      </p:sp>
      <p:sp>
        <p:nvSpPr>
          <p:cNvPr id="13" name="authdot-0-3">
            <a:extLst xmlns:a="http://schemas.openxmlformats.org/drawingml/2006/main">
              <a:ext uri="{FF2B5EF4-FFF2-40B4-BE49-F238E27FC236}">
                <a16:creationId xmlns:a16="http://schemas.microsoft.com/office/drawing/2014/main" id="{BB482D80-FBD7-408C-A8B1-88ABDE023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529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97BE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97BE6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4" name="authline-0-3">
            <a:extLst xmlns:a="http://schemas.openxmlformats.org/drawingml/2006/main">
              <a:ext uri="{FF2B5EF4-FFF2-40B4-BE49-F238E27FC236}">
                <a16:creationId xmlns:a16="http://schemas.microsoft.com/office/drawing/2014/main" id="{85DB76E7-EEBA-4077-BD4E-4FCF57AA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529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검토 이력 생성</a:t>
            </a:r>
          </a:p>
        </p:txBody>
      </p:sp>
      <p:sp>
        <p:nvSpPr>
          <p:cNvPr id="15" name="auth-1">
            <a:extLst xmlns:a="http://schemas.openxmlformats.org/drawingml/2006/main">
              <a:ext uri="{FF2B5EF4-FFF2-40B4-BE49-F238E27FC236}">
                <a16:creationId xmlns:a16="http://schemas.microsoft.com/office/drawing/2014/main" id="{F86DF729-E19B-4639-A823-75A327EB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24050"/>
            <a:ext cx="33718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auth-title-1">
            <a:extLst xmlns:a="http://schemas.openxmlformats.org/drawingml/2006/main">
              <a:ext uri="{FF2B5EF4-FFF2-40B4-BE49-F238E27FC236}">
                <a16:creationId xmlns:a16="http://schemas.microsoft.com/office/drawing/2014/main" id="{B75907E9-6615-4FB2-A12B-67AB57D9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098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담당자가 하는 일</a:t>
            </a:r>
          </a:p>
        </p:txBody>
      </p:sp>
      <p:sp>
        <p:nvSpPr>
          <p:cNvPr id="17" name="authdot-1-0">
            <a:extLst xmlns:a="http://schemas.openxmlformats.org/drawingml/2006/main">
              <a:ext uri="{FF2B5EF4-FFF2-40B4-BE49-F238E27FC236}">
                <a16:creationId xmlns:a16="http://schemas.microsoft.com/office/drawing/2014/main" id="{9E130C58-CCDB-4EAE-A806-22AEE6B9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813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8" name="authline-1-0">
            <a:extLst xmlns:a="http://schemas.openxmlformats.org/drawingml/2006/main">
              <a:ext uri="{FF2B5EF4-FFF2-40B4-BE49-F238E27FC236}">
                <a16:creationId xmlns:a16="http://schemas.microsoft.com/office/drawing/2014/main" id="{D4CEEC93-AF9C-4827-9547-C93234BEE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813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법률 해석 확정</a:t>
            </a:r>
          </a:p>
        </p:txBody>
      </p:sp>
      <p:sp>
        <p:nvSpPr>
          <p:cNvPr id="19" name="authdot-1-1">
            <a:extLst xmlns:a="http://schemas.openxmlformats.org/drawingml/2006/main">
              <a:ext uri="{FF2B5EF4-FFF2-40B4-BE49-F238E27FC236}">
                <a16:creationId xmlns:a16="http://schemas.microsoft.com/office/drawing/2014/main" id="{1D0B7324-A450-49FC-9A72-CD0894DE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385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authline-1-1">
            <a:extLst xmlns:a="http://schemas.openxmlformats.org/drawingml/2006/main">
              <a:ext uri="{FF2B5EF4-FFF2-40B4-BE49-F238E27FC236}">
                <a16:creationId xmlns:a16="http://schemas.microsoft.com/office/drawing/2014/main" id="{68AC284D-7ED3-40B5-82F4-9AB54DB4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385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정책 예외 승인</a:t>
            </a:r>
          </a:p>
        </p:txBody>
      </p:sp>
      <p:sp>
        <p:nvSpPr>
          <p:cNvPr id="21" name="authdot-1-2">
            <a:extLst xmlns:a="http://schemas.openxmlformats.org/drawingml/2006/main">
              <a:ext uri="{FF2B5EF4-FFF2-40B4-BE49-F238E27FC236}">
                <a16:creationId xmlns:a16="http://schemas.microsoft.com/office/drawing/2014/main" id="{4693D541-2F0A-4985-9C19-3AF991D5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957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2" name="authline-1-2">
            <a:extLst xmlns:a="http://schemas.openxmlformats.org/drawingml/2006/main">
              <a:ext uri="{FF2B5EF4-FFF2-40B4-BE49-F238E27FC236}">
                <a16:creationId xmlns:a16="http://schemas.microsoft.com/office/drawing/2014/main" id="{ED887A76-4FEC-4C36-B874-317D9149F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957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대외 문구 승인</a:t>
            </a:r>
          </a:p>
        </p:txBody>
      </p:sp>
      <p:sp>
        <p:nvSpPr>
          <p:cNvPr id="23" name="authdot-1-3">
            <a:extLst xmlns:a="http://schemas.openxmlformats.org/drawingml/2006/main">
              <a:ext uri="{FF2B5EF4-FFF2-40B4-BE49-F238E27FC236}">
                <a16:creationId xmlns:a16="http://schemas.microsoft.com/office/drawing/2014/main" id="{D964584F-D9F3-4F29-A837-4E894E5C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529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authline-1-3">
            <a:extLst xmlns:a="http://schemas.openxmlformats.org/drawingml/2006/main">
              <a:ext uri="{FF2B5EF4-FFF2-40B4-BE49-F238E27FC236}">
                <a16:creationId xmlns:a16="http://schemas.microsoft.com/office/drawing/2014/main" id="{65A32AB7-4B38-4184-B397-A1B3DF27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1529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배포·중단 결정</a:t>
            </a:r>
          </a:p>
        </p:txBody>
      </p:sp>
      <p:sp>
        <p:nvSpPr>
          <p:cNvPr id="25" name="auth-2">
            <a:extLst xmlns:a="http://schemas.openxmlformats.org/drawingml/2006/main">
              <a:ext uri="{FF2B5EF4-FFF2-40B4-BE49-F238E27FC236}">
                <a16:creationId xmlns:a16="http://schemas.microsoft.com/office/drawing/2014/main" id="{42C68722-0BDD-43DE-B522-59F58E93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924050"/>
            <a:ext cx="33718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auth-title-2">
            <a:extLst xmlns:a="http://schemas.openxmlformats.org/drawingml/2006/main">
              <a:ext uri="{FF2B5EF4-FFF2-40B4-BE49-F238E27FC236}">
                <a16:creationId xmlns:a16="http://schemas.microsoft.com/office/drawing/2014/main" id="{DFA47D9A-25E9-450A-AD98-8CB651B7A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98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시스템이 하는 일</a:t>
            </a:r>
          </a:p>
        </p:txBody>
      </p:sp>
      <p:sp>
        <p:nvSpPr>
          <p:cNvPr id="27" name="authdot-2-0">
            <a:extLst xmlns:a="http://schemas.openxmlformats.org/drawingml/2006/main">
              <a:ext uri="{FF2B5EF4-FFF2-40B4-BE49-F238E27FC236}">
                <a16:creationId xmlns:a16="http://schemas.microsoft.com/office/drawing/2014/main" id="{52DD6DD5-3F83-467E-866D-1E7CD1D5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813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803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5803D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8" name="authline-2-0">
            <a:extLst xmlns:a="http://schemas.openxmlformats.org/drawingml/2006/main">
              <a:ext uri="{FF2B5EF4-FFF2-40B4-BE49-F238E27FC236}">
                <a16:creationId xmlns:a16="http://schemas.microsoft.com/office/drawing/2014/main" id="{417E94E4-4BEC-4A27-A560-9A024AC7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813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고위험 건 제한</a:t>
            </a:r>
          </a:p>
        </p:txBody>
      </p:sp>
      <p:sp>
        <p:nvSpPr>
          <p:cNvPr id="29" name="authdot-2-1">
            <a:extLst xmlns:a="http://schemas.openxmlformats.org/drawingml/2006/main">
              <a:ext uri="{FF2B5EF4-FFF2-40B4-BE49-F238E27FC236}">
                <a16:creationId xmlns:a16="http://schemas.microsoft.com/office/drawing/2014/main" id="{7345FC42-1FAC-4262-8EC0-34C9DFC18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385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803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5803D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0" name="authline-2-1">
            <a:extLst xmlns:a="http://schemas.openxmlformats.org/drawingml/2006/main">
              <a:ext uri="{FF2B5EF4-FFF2-40B4-BE49-F238E27FC236}">
                <a16:creationId xmlns:a16="http://schemas.microsoft.com/office/drawing/2014/main" id="{631128F8-9850-4B6C-AE01-81E4E105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385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승인 전 반영 금지</a:t>
            </a:r>
          </a:p>
        </p:txBody>
      </p:sp>
      <p:sp>
        <p:nvSpPr>
          <p:cNvPr id="31" name="authdot-2-2">
            <a:extLst xmlns:a="http://schemas.openxmlformats.org/drawingml/2006/main">
              <a:ext uri="{FF2B5EF4-FFF2-40B4-BE49-F238E27FC236}">
                <a16:creationId xmlns:a16="http://schemas.microsoft.com/office/drawing/2014/main" id="{63DD8DDF-81E7-4E83-B568-D0D83AA8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957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803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5803D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2" name="authline-2-2">
            <a:extLst xmlns:a="http://schemas.openxmlformats.org/drawingml/2006/main">
              <a:ext uri="{FF2B5EF4-FFF2-40B4-BE49-F238E27FC236}">
                <a16:creationId xmlns:a16="http://schemas.microsoft.com/office/drawing/2014/main" id="{03F219DD-3D58-46F3-AD07-BEF54399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957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감사 로그 보관</a:t>
            </a:r>
          </a:p>
        </p:txBody>
      </p:sp>
      <p:sp>
        <p:nvSpPr>
          <p:cNvPr id="33" name="authdot-2-3">
            <a:extLst xmlns:a="http://schemas.openxmlformats.org/drawingml/2006/main">
              <a:ext uri="{FF2B5EF4-FFF2-40B4-BE49-F238E27FC236}">
                <a16:creationId xmlns:a16="http://schemas.microsoft.com/office/drawing/2014/main" id="{E0AAF9FD-DFB9-461E-826D-42CD8FCB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529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803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5803D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4" name="authline-2-3">
            <a:extLst xmlns:a="http://schemas.openxmlformats.org/drawingml/2006/main">
              <a:ext uri="{FF2B5EF4-FFF2-40B4-BE49-F238E27FC236}">
                <a16:creationId xmlns:a16="http://schemas.microsoft.com/office/drawing/2014/main" id="{16FBEA7A-4B63-4BFA-BFEA-D5F70529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529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PAPER/REAL 게이트 유지</a:t>
            </a:r>
          </a:p>
        </p:txBody>
      </p:sp>
      <p:sp>
        <p:nvSpPr>
          <p:cNvPr id="35" name="auth-ban">
            <a:extLst xmlns:a="http://schemas.openxmlformats.org/drawingml/2006/main">
              <a:ext uri="{FF2B5EF4-FFF2-40B4-BE49-F238E27FC236}">
                <a16:creationId xmlns:a16="http://schemas.microsoft.com/office/drawing/2014/main" id="{F29789F9-7B11-4991-8B4B-416AEBDA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435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2413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C2413B"/>
                </a:solidFill>
                <a:latin typeface="Malgun Gothic"/>
                <a:ea typeface="Malgun Gothic"/>
                <a:cs typeface="Malgun Gothic"/>
              </a:rPr>
              <a:t>금지: 법률 에이전트가 주문을 내거나, REAL 전환을 허용하거나, 법률상 확정 결론을 단독으로 표기하는 방식.</a:t>
            </a:r>
          </a:p>
        </p:txBody>
      </p:sp>
    </p:spTree>
    <p:extLst>
      <p:ext uri="{BB962C8B-B14F-4D97-AF65-F5344CB8AC3E}">
        <p14:creationId xmlns:p14="http://schemas.microsoft.com/office/powerpoint/2010/main" val="66207088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kicker-8">
            <a:extLst xmlns:a="http://schemas.openxmlformats.org/drawingml/2006/main">
              <a:ext uri="{FF2B5EF4-FFF2-40B4-BE49-F238E27FC236}">
                <a16:creationId xmlns:a16="http://schemas.microsoft.com/office/drawing/2014/main" id="{9391605E-ED14-4FB0-A9BD-CE42E4256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97BE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97BE6"/>
                </a:solidFill>
                <a:latin typeface="Malgun Gothic"/>
                <a:ea typeface="Malgun Gothic"/>
                <a:cs typeface="Malgun Gothic"/>
              </a:rPr>
              <a:t>QUANTPILOT · LEGAL AGENT DRAFT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6481189C-3B94-4D61-AC62-F63EA9AF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도입은 “측정 → 제한 → 승인” 순으로 작게 시작합니다.</a:t>
            </a:r>
          </a:p>
        </p:txBody>
      </p:sp>
      <p:sp>
        <p:nvSpPr>
          <p:cNvPr id="3" name="page-8">
            <a:extLst xmlns:a="http://schemas.openxmlformats.org/drawingml/2006/main">
              <a:ext uri="{FF2B5EF4-FFF2-40B4-BE49-F238E27FC236}">
                <a16:creationId xmlns:a16="http://schemas.microsoft.com/office/drawing/2014/main" id="{30CBFFE5-C7B4-4FCD-BDB6-9E1BD7EC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17A41D-2881-4F5B-AC0B-88FB0395F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hase-0">
            <a:extLst xmlns:a="http://schemas.openxmlformats.org/drawingml/2006/main">
              <a:ext uri="{FF2B5EF4-FFF2-40B4-BE49-F238E27FC236}">
                <a16:creationId xmlns:a16="http://schemas.microsoft.com/office/drawing/2014/main" id="{B13A5C50-B32F-44C0-95CA-8BE2533D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66950"/>
            <a:ext cx="24193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hase-num-0">
            <a:extLst xmlns:a="http://schemas.openxmlformats.org/drawingml/2006/main">
              <a:ext uri="{FF2B5EF4-FFF2-40B4-BE49-F238E27FC236}">
                <a16:creationId xmlns:a16="http://schemas.microsoft.com/office/drawing/2014/main" id="{6D5D3E4F-B5ED-4575-91B0-372D4B42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97BE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97BE6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phase-head-0">
            <a:extLst xmlns:a="http://schemas.openxmlformats.org/drawingml/2006/main">
              <a:ext uri="{FF2B5EF4-FFF2-40B4-BE49-F238E27FC236}">
                <a16:creationId xmlns:a16="http://schemas.microsoft.com/office/drawing/2014/main" id="{EF85F917-55B1-4006-83E5-8B85A065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718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기준 정의</a:t>
            </a:r>
          </a:p>
        </p:txBody>
      </p:sp>
      <p:sp>
        <p:nvSpPr>
          <p:cNvPr id="8" name="phase-body-0">
            <a:extLst xmlns:a="http://schemas.openxmlformats.org/drawingml/2006/main">
              <a:ext uri="{FF2B5EF4-FFF2-40B4-BE49-F238E27FC236}">
                <a16:creationId xmlns:a16="http://schemas.microsoft.com/office/drawing/2014/main" id="{20148EB6-3353-4A51-9AFE-9744C754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099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적용 서비스·검토 유형·담당자·SLA 확정</a:t>
            </a:r>
          </a:p>
        </p:txBody>
      </p:sp>
      <p:sp>
        <p:nvSpPr>
          <p:cNvPr id="9" name="phase-line-0">
            <a:extLst xmlns:a="http://schemas.openxmlformats.org/drawingml/2006/main">
              <a:ext uri="{FF2B5EF4-FFF2-40B4-BE49-F238E27FC236}">
                <a16:creationId xmlns:a16="http://schemas.microsoft.com/office/drawing/2014/main" id="{A0D95708-DB33-4139-AE7C-73A2F224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1813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hase-1">
            <a:extLst xmlns:a="http://schemas.openxmlformats.org/drawingml/2006/main">
              <a:ext uri="{FF2B5EF4-FFF2-40B4-BE49-F238E27FC236}">
                <a16:creationId xmlns:a16="http://schemas.microsoft.com/office/drawing/2014/main" id="{398F27BE-38D6-4101-A702-1C4BAF9F8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66950"/>
            <a:ext cx="24193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hase-num-1">
            <a:extLst xmlns:a="http://schemas.openxmlformats.org/drawingml/2006/main">
              <a:ext uri="{FF2B5EF4-FFF2-40B4-BE49-F238E27FC236}">
                <a16:creationId xmlns:a16="http://schemas.microsoft.com/office/drawing/2014/main" id="{3156235F-7ED0-4E71-8B1D-6E09E34E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765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97BE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97BE6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phase-head-1">
            <a:extLst xmlns:a="http://schemas.openxmlformats.org/drawingml/2006/main">
              <a:ext uri="{FF2B5EF4-FFF2-40B4-BE49-F238E27FC236}">
                <a16:creationId xmlns:a16="http://schemas.microsoft.com/office/drawing/2014/main" id="{D23596A1-F23B-4A46-95B8-65DD8F5AB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718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근거 수집</a:t>
            </a:r>
          </a:p>
        </p:txBody>
      </p:sp>
      <p:sp>
        <p:nvSpPr>
          <p:cNvPr id="13" name="phase-body-1">
            <a:extLst xmlns:a="http://schemas.openxmlformats.org/drawingml/2006/main">
              <a:ext uri="{FF2B5EF4-FFF2-40B4-BE49-F238E27FC236}">
                <a16:creationId xmlns:a16="http://schemas.microsoft.com/office/drawing/2014/main" id="{B29FD5CC-88D5-42D4-ADDD-8BEB8D61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099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출처 메타데이터·문구·공시 이벤트를 검토 큐로 적재</a:t>
            </a:r>
          </a:p>
        </p:txBody>
      </p:sp>
      <p:sp>
        <p:nvSpPr>
          <p:cNvPr id="14" name="phase-line-1">
            <a:extLst xmlns:a="http://schemas.openxmlformats.org/drawingml/2006/main">
              <a:ext uri="{FF2B5EF4-FFF2-40B4-BE49-F238E27FC236}">
                <a16:creationId xmlns:a16="http://schemas.microsoft.com/office/drawing/2014/main" id="{6D3CD80D-18E8-4D48-8995-F73A2312F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1813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hase-2">
            <a:extLst xmlns:a="http://schemas.openxmlformats.org/drawingml/2006/main">
              <a:ext uri="{FF2B5EF4-FFF2-40B4-BE49-F238E27FC236}">
                <a16:creationId xmlns:a16="http://schemas.microsoft.com/office/drawing/2014/main" id="{3042819D-3919-4909-90CE-3FC37413B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66950"/>
            <a:ext cx="24193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hase-num-2">
            <a:extLst xmlns:a="http://schemas.openxmlformats.org/drawingml/2006/main">
              <a:ext uri="{FF2B5EF4-FFF2-40B4-BE49-F238E27FC236}">
                <a16:creationId xmlns:a16="http://schemas.microsoft.com/office/drawing/2014/main" id="{BE66729A-16ED-44EE-9906-58A4B868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765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97BE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97BE6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phase-head-2">
            <a:extLst xmlns:a="http://schemas.openxmlformats.org/drawingml/2006/main">
              <a:ext uri="{FF2B5EF4-FFF2-40B4-BE49-F238E27FC236}">
                <a16:creationId xmlns:a16="http://schemas.microsoft.com/office/drawing/2014/main" id="{FA3B5DC7-E924-43BC-A980-237D708D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718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PAPER 운영</a:t>
            </a:r>
          </a:p>
        </p:txBody>
      </p:sp>
      <p:sp>
        <p:nvSpPr>
          <p:cNvPr id="18" name="phase-body-2">
            <a:extLst xmlns:a="http://schemas.openxmlformats.org/drawingml/2006/main">
              <a:ext uri="{FF2B5EF4-FFF2-40B4-BE49-F238E27FC236}">
                <a16:creationId xmlns:a16="http://schemas.microsoft.com/office/drawing/2014/main" id="{5044CF23-9142-4474-A9C1-BBA80D7C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099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실제 서비스 반영 없이 분류·근거·이관률을 측정</a:t>
            </a:r>
          </a:p>
        </p:txBody>
      </p:sp>
      <p:sp>
        <p:nvSpPr>
          <p:cNvPr id="19" name="phase-line-2">
            <a:extLst xmlns:a="http://schemas.openxmlformats.org/drawingml/2006/main">
              <a:ext uri="{FF2B5EF4-FFF2-40B4-BE49-F238E27FC236}">
                <a16:creationId xmlns:a16="http://schemas.microsoft.com/office/drawing/2014/main" id="{F4E5336C-938E-4A04-8F9C-282E05EF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1813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hase-3">
            <a:extLst xmlns:a="http://schemas.openxmlformats.org/drawingml/2006/main">
              <a:ext uri="{FF2B5EF4-FFF2-40B4-BE49-F238E27FC236}">
                <a16:creationId xmlns:a16="http://schemas.microsoft.com/office/drawing/2014/main" id="{56AC0CDE-3E11-4FDF-A879-E3B389A7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266950"/>
            <a:ext cx="24193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hase-num-3">
            <a:extLst xmlns:a="http://schemas.openxmlformats.org/drawingml/2006/main">
              <a:ext uri="{FF2B5EF4-FFF2-40B4-BE49-F238E27FC236}">
                <a16:creationId xmlns:a16="http://schemas.microsoft.com/office/drawing/2014/main" id="{10F173D3-2C52-4BC4-9B40-6F643790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765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97BE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97BE6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2" name="phase-head-3">
            <a:extLst xmlns:a="http://schemas.openxmlformats.org/drawingml/2006/main">
              <a:ext uri="{FF2B5EF4-FFF2-40B4-BE49-F238E27FC236}">
                <a16:creationId xmlns:a16="http://schemas.microsoft.com/office/drawing/2014/main" id="{6ED99142-FA31-41ED-B39B-DDA0C6F9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9718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통제 연결</a:t>
            </a:r>
          </a:p>
        </p:txBody>
      </p:sp>
      <p:sp>
        <p:nvSpPr>
          <p:cNvPr id="23" name="phase-body-3">
            <a:extLst xmlns:a="http://schemas.openxmlformats.org/drawingml/2006/main">
              <a:ext uri="{FF2B5EF4-FFF2-40B4-BE49-F238E27FC236}">
                <a16:creationId xmlns:a16="http://schemas.microsoft.com/office/drawing/2014/main" id="{F05070B1-5645-406B-8048-32E9E3F04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099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484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고위험 항목만 정책·배포·운영 게이트와 연결</a:t>
            </a:r>
          </a:p>
        </p:txBody>
      </p:sp>
      <p:sp>
        <p:nvSpPr>
          <p:cNvPr id="24" name="dec-head">
            <a:extLst xmlns:a="http://schemas.openxmlformats.org/drawingml/2006/main">
              <a:ext uri="{FF2B5EF4-FFF2-40B4-BE49-F238E27FC236}">
                <a16:creationId xmlns:a16="http://schemas.microsoft.com/office/drawing/2014/main" id="{B1E1A1A0-DD90-4BB5-BE3A-E24A38038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초기 의사결정 3가지</a:t>
            </a:r>
          </a:p>
        </p:txBody>
      </p:sp>
      <p:sp>
        <p:nvSpPr>
          <p:cNvPr id="25" name="dec-n-0">
            <a:extLst xmlns:a="http://schemas.openxmlformats.org/drawingml/2006/main">
              <a:ext uri="{FF2B5EF4-FFF2-40B4-BE49-F238E27FC236}">
                <a16:creationId xmlns:a16="http://schemas.microsoft.com/office/drawing/2014/main" id="{A8998480-7D2B-47EC-A62B-846EB3BAD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149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97BE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97BE6"/>
                </a:solidFill>
                <a:latin typeface="Malgun Gothic"/>
                <a:ea typeface="Malgun Gothic"/>
                <a:cs typeface="Malgun Gothic"/>
              </a:rPr>
              <a:t>1.</a:t>
            </a:r>
          </a:p>
        </p:txBody>
      </p:sp>
      <p:sp>
        <p:nvSpPr>
          <p:cNvPr id="26" name="dec-0">
            <a:extLst xmlns:a="http://schemas.openxmlformats.org/drawingml/2006/main">
              <a:ext uri="{FF2B5EF4-FFF2-40B4-BE49-F238E27FC236}">
                <a16:creationId xmlns:a16="http://schemas.microsoft.com/office/drawing/2014/main" id="{3C97733E-339F-41D3-9E4B-144BAE20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우선 검토 대상: 데이터 사용권 / 공시 / 사용자 문구</a:t>
            </a:r>
          </a:p>
        </p:txBody>
      </p:sp>
      <p:sp>
        <p:nvSpPr>
          <p:cNvPr id="27" name="dec-n-1">
            <a:extLst xmlns:a="http://schemas.openxmlformats.org/drawingml/2006/main">
              <a:ext uri="{FF2B5EF4-FFF2-40B4-BE49-F238E27FC236}">
                <a16:creationId xmlns:a16="http://schemas.microsoft.com/office/drawing/2014/main" id="{0D0E7C95-9A50-441D-AF15-9E35C923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97BE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97BE6"/>
                </a:solidFill>
                <a:latin typeface="Malgun Gothic"/>
                <a:ea typeface="Malgun Gothic"/>
                <a:cs typeface="Malgun Gothic"/>
              </a:rPr>
              <a:t>2.</a:t>
            </a:r>
          </a:p>
        </p:txBody>
      </p:sp>
      <p:sp>
        <p:nvSpPr>
          <p:cNvPr id="28" name="dec-1">
            <a:extLst xmlns:a="http://schemas.openxmlformats.org/drawingml/2006/main">
              <a:ext uri="{FF2B5EF4-FFF2-40B4-BE49-F238E27FC236}">
                <a16:creationId xmlns:a16="http://schemas.microsoft.com/office/drawing/2014/main" id="{FD02485C-7FA2-4CFC-B4CF-BE4C4413B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승인 책임자와 검토 SLA</a:t>
            </a:r>
          </a:p>
        </p:txBody>
      </p:sp>
      <p:sp>
        <p:nvSpPr>
          <p:cNvPr id="29" name="dec-n-2">
            <a:extLst xmlns:a="http://schemas.openxmlformats.org/drawingml/2006/main">
              <a:ext uri="{FF2B5EF4-FFF2-40B4-BE49-F238E27FC236}">
                <a16:creationId xmlns:a16="http://schemas.microsoft.com/office/drawing/2014/main" id="{BD62C93A-9325-4D63-946D-40938513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97BE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97BE6"/>
                </a:solidFill>
                <a:latin typeface="Malgun Gothic"/>
                <a:ea typeface="Malgun Gothic"/>
                <a:cs typeface="Malgun Gothic"/>
              </a:rPr>
              <a:t>3.</a:t>
            </a:r>
          </a:p>
        </p:txBody>
      </p:sp>
      <p:sp>
        <p:nvSpPr>
          <p:cNvPr id="30" name="dec-2">
            <a:extLst xmlns:a="http://schemas.openxmlformats.org/drawingml/2006/main">
              <a:ext uri="{FF2B5EF4-FFF2-40B4-BE49-F238E27FC236}">
                <a16:creationId xmlns:a16="http://schemas.microsoft.com/office/drawing/2014/main" id="{19EB77EA-3377-4763-AD0F-A9A287D5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245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차단 기준과 예외 승인 절차</a:t>
            </a:r>
          </a:p>
        </p:txBody>
      </p:sp>
    </p:spTree>
    <p:extLst>
      <p:ext uri="{BB962C8B-B14F-4D97-AF65-F5344CB8AC3E}">
        <p14:creationId xmlns:p14="http://schemas.microsoft.com/office/powerpoint/2010/main" val="15621007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18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6098FD62-6663-4069-8423-18463488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FC4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8FC4FF"/>
                </a:solidFill>
                <a:latin typeface="Malgun Gothic"/>
                <a:ea typeface="Malgun Gothic"/>
                <a:cs typeface="Malgun Gothic"/>
              </a:rPr>
              <a:t>NEXT DECISION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48EFC7E8-3705-43E7-B0B5-537C4C721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38300"/>
            <a:ext cx="885825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법률 에이전트를</a:t>
            </a:r>
          </a:p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“검토 통제 계층”으로</a:t>
            </a:r>
          </a:p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설계할 것인가?</a:t>
            </a:r>
          </a:p>
        </p:txBody>
      </p:sp>
      <p:sp>
        <p:nvSpPr>
          <p:cNvPr id="3" name="close-sub">
            <a:extLst xmlns:a="http://schemas.openxmlformats.org/drawingml/2006/main">
              <a:ext uri="{FF2B5EF4-FFF2-40B4-BE49-F238E27FC236}">
                <a16:creationId xmlns:a16="http://schemas.microsoft.com/office/drawing/2014/main" id="{00CAE709-F147-465C-88A9-B3EA97B1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24350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446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5DCE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D5DCE7"/>
                </a:solidFill>
                <a:latin typeface="Malgun Gothic"/>
                <a:ea typeface="Malgun Gothic"/>
                <a:cs typeface="Malgun Gothic"/>
              </a:rPr>
              <a:t>첫 단계는 법률 판단 자동화가 아니라, 근거·위험·승인의 비교지표를 만드는 일입니다.</a:t>
            </a:r>
          </a:p>
        </p:txBody>
      </p:sp>
      <p:sp>
        <p:nvSpPr>
          <p:cNvPr id="4" name="close-foot">
            <a:extLst xmlns:a="http://schemas.openxmlformats.org/drawingml/2006/main">
              <a:ext uri="{FF2B5EF4-FFF2-40B4-BE49-F238E27FC236}">
                <a16:creationId xmlns:a16="http://schemas.microsoft.com/office/drawing/2014/main" id="{BFD48B38-6BF5-4355-88F9-DA9379950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817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FC4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8FC4FF"/>
                </a:solidFill>
                <a:latin typeface="Malgun Gothic"/>
                <a:ea typeface="Malgun Gothic"/>
                <a:cs typeface="Malgun Gothic"/>
              </a:rPr>
              <a:t>검토용 초안</a:t>
            </a:r>
          </a:p>
        </p:txBody>
      </p:sp>
    </p:spTree>
    <p:extLst>
      <p:ext uri="{BB962C8B-B14F-4D97-AF65-F5344CB8AC3E}">
        <p14:creationId xmlns:p14="http://schemas.microsoft.com/office/powerpoint/2010/main" val="1000780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2026-07-29T03:10:31.8980000Z</dcterms:created>
  <dcterms:modified xsi:type="dcterms:W3CDTF">2026-07-29T03:10:31.8980000Z</dcterms:modified>
</coreProperties>
</file>